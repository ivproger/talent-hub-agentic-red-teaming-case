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MOROK — инструмент для MLSecOps. Он получает описание агентной системы, проводит многошаговые атаки на её память и интеграции, а затем подтверждает их эффект по состоянию системы. На выходе команда получает не эффектный скриншот ответа, а доказательство и тест, который можно повторить после изменения 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Чат проверяют по ответу. Агент может сохранить инструкцию в долгую память, выбрать инструмент или передать ему неверный аргумент. Внешне первая сессия выглядит безобидной, а ущерб появится позже — в работе другого пользователя. Поэтому объект проверки — инженерная система целиком, а не отдельная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клин — не «все компании с ИИ». Это регулируемые организации: банки, НФО, КИИ. Покупатель отвечает за риск, а ежедневный пользователь — MLSecOps-команда. В интервью Альфа-Банка мы услышали важный масштаб потока: на одного из трёх специалистов может приходиться до пяти агентов в день. Полное ручное исследование одного агента нарушает SLA, а передавать контекст и трассы наружу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говорим, что ручной аудит или сильный агент бесполезны. Это два реальных способа решать проблему. Но для банка внешний SaaS не подходит, а самостоятельная работа агента не создаёт воспроизводимого контура: кто-то должен связать сценарий, identities и sessions, доказательство по состоянию, отчёт и повторный прогон. Обычная проверка промпта тем более не видит жизненный цикл памяти.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white-box или gray-box режиме команда агента даёт архитектуру, API-контракт, роли и список инструментов. Дальше продукт строит кампанию, проводит её от разных пользователей и сессий, наблюдает состояние и фиксирует только подтверждённые эффекты. Итог — evidence-отчёт, который полезен не только security-команде, но и владельцу агента, и сценарий для повторного запуска.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есть у трёх сегментов, но покупать они будут разное. Банку нужен внутренний контур; кибербез-компании — инструмент, который увеличит их пропускную способность и позволит продавать retest; независимой продуктовой команде — управляемая проверка с экспертным triage. Мы не будем делать вид, что уже нашли идеальный рынок. Первый сегмент выбираем после пилотов.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MVP пользователь описывает или подключает тестовый агент, проверяет контур, выбирает сценарий и роли. После кампании он видит ASR и evidence, а сценарий остаётся для повторного запуска. Сейчас покажем это на BAC: доказательством будет не ответ модели, а фактический аргумент MCP-инструмента.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Атакующий — пользователь 1001, цель — синтетические данные 1002. Мы не доверяем тексту агента: State Tracer читает фактический журнал вызова. В завершённом прогоне четыре разных формулировки привели к одному измеримому эффекту — инструмент получил аргумент 1002. Это демонстрирует работу evidence loop на намеренно уязвимом стенде; это не заявление о защищённости или уязвимости реального банка.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концептуальная картинка, а текущий рабочий pipeline. На входе — описание цели и конфигурация. doctor проверяет контур. Затем берётся YAML-сценарий или adaptive BAC-генерация, Runner выполняет шаги от разных пользователей и сессий, а State Tracer собирает память и журнал tool calls. Assertions рассчитывают finding и ASR, после чего все evidence сохраняются в отдельный run. CLI и UI обращаются к одному pipeline; трассировка Langfuse полезна для исследования, но verdict от неё не зависит.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ASR сам по себе ничего не значит, пока не определено, что такое успех. Для BAC это несовпадение пользователя и аргумента инструмента. Для memory poisoning нужна последовательность проверок: запись попала в память, сохранилась, извлеклась в другой сессии и повлияла на действие. В исходной продуктовой гипотезе LLM-судья был самым рискованным допущением. В текущем MVP мы сознательно используем детерминированные assertions для факта, а LLM оставляем на стороне генерации и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текущий подтверждённый результат — четыре из четырёх BAC-атак на намеренно уязвимом учебном стенде. Во всех попытках пользователь 1001 добился вызова инструмента с 1002. Это доказывает корректность нашего measurement loop на конкретном кейсе. Не называем это traction и не обобщаем на другие модели, банки или классы атак. Следующее доказательство — memory lifecycle и сравнение с защищённым режимом.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дал нам не право заявить успех, а правильные вопросы. Мы сформулировали пять продуктовых гипотез: скорость и покрытие, ценность архитектурного контекста, доверие к evidence, регрессия и выбор сегмента. Три интервью подтвердили направление: приоритетны BAC, память, наблюдаемый эффект и контур. Следующий шаг — превратить это в измерения времени, доверия к finding и willingness to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мы знаем цену проблемы, а не цену нашего продукта. Агентный аудит на рынке может стоить от 400 до 800 тысяч рублей и длиться от двух до шести недель; первичная оценка — порядка 300–500 тысяч. Сильный агент дешевле, но не заменяет контурный воспроизводимый процесс в банке. Наша будущая коммерческая единица — одна агентная система с согласованным scope, кампанией, evidence-отчётом и retest. До пилота нам нужно измерить себестоимость кампании и готовность платить, поэтому цену продукта сейчас не придумываем.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использовали ИИ как исследовательский и инженерный ускоритель: для поиска и анализа рынка, подготовки и расшифровки интервью, работы с репозиторием. Но источники, продуктовые решения и claims проверяются людьми. В самом продукте действует та же граница: LLM помогает расширять пространство атак, код и state oracle подтверждают факт, а security-эксперт решает, что этот факт значит для бизнеса.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Нам нужен design partner: конкретный агент, несколько недопустимых effects и возможность увидеть проверяемый след. В ответ мы проверим, какой state adapter нужен, и покажем evidence, пригодный для исправления и retest. Ближайший технический результат — полная цепочка memory lifecycle между сессиями. Спасибо.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— резервные слайды для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арифметика потока и ёмкости. До 5 агентов в день на человека против ёмкости 0,3–0,5 агента в день. Разрыв примерно на порядок. Это оценка на пиковом потоке, не статистика рынка.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конкурентная раскладка. Против HiveTrace Red наш аргумент — измерение состояния и cross-session эффекта. Против сервисных аудитов — цикл вместо разового проекта. С крупными offensive-практиками не конкурируем, даём им инструмент. С OSS — модель compose, not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себестоимость ручной проверки одного агента. Подрядчик — 80–360 тысяч, штатная команда — 36–66 тысяч. Это база для расчёта экономии на потоке, а не наша цена.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линейка модулей. Forge атакует. Proof доказывает. Loop не даёт забыть. Каждый модуль соответствует реальному компоненту текущего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17068800" cy="7284839"/>
          </a:xfrm>
          <a:prstGeom prst="roundRect">
            <a:avLst>
              <a:gd name="adj" fmla="val 4184"/>
            </a:avLst>
          </a:prstGeom>
          <a:solidFill>
            <a:srgbClr val="12121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137160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2650" y="1447800"/>
            <a:ext cx="210835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spc="5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MOROK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4782800" y="1371600"/>
            <a:ext cx="21336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3333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Защита продукта 07.09.2026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811786"/>
            <a:ext cx="170992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ON-PREM ДВИЖОК AGENTIC RED TEAMING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4345186"/>
            <a:ext cx="14519910" cy="2825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42"/>
              </a:lnSpc>
              <a:buNone/>
            </a:pPr>
            <a:r>
              <a:rPr lang="en-US" sz="4650" b="1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архитектуре агента запускает многошаговые атаки на память и интеграции, доказывает их влияние по состоянию системы и сохраняет регрессионный тест.</a:t>
            </a:r>
            <a:endParaRPr lang="en-US" sz="4650" dirty="0"/>
          </a:p>
        </p:txBody>
      </p:sp>
      <p:sp>
        <p:nvSpPr>
          <p:cNvPr id="8" name="Shape 5"/>
          <p:cNvSpPr/>
          <p:nvPr/>
        </p:nvSpPr>
        <p:spPr>
          <a:xfrm>
            <a:off x="609600" y="8123039"/>
            <a:ext cx="10947425" cy="1554361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66800" y="8513564"/>
            <a:ext cx="1033401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банков и других регулируемых организаций, где данные, контекст и трассы нельзя передавать во внешний SaaS.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1747525" y="8123039"/>
            <a:ext cx="5930875" cy="1554361"/>
          </a:xfrm>
          <a:prstGeom prst="roundRect">
            <a:avLst>
              <a:gd name="adj" fmla="val 1470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2204725" y="8504039"/>
            <a:ext cx="213895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поверит. Мы докажем.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«запрос → ответ» не видит главную часть агентного риска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4914900" cy="5631359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678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чата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66800" y="3063180"/>
            <a:ext cx="4000500" cy="685800"/>
          </a:xfrm>
          <a:prstGeom prst="roundRect">
            <a:avLst>
              <a:gd name="adj" fmla="val 22222"/>
            </a:avLst>
          </a:prstGeom>
          <a:solidFill>
            <a:srgbClr val="EDECE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272730"/>
            <a:ext cx="3587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запрос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333500" y="3882330"/>
            <a:ext cx="19050" cy="228600"/>
          </a:xfrm>
          <a:prstGeom prst="rect">
            <a:avLst/>
          </a:prstGeom>
          <a:solidFill>
            <a:srgbClr val="D2D3D9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4244280"/>
            <a:ext cx="4000500" cy="685800"/>
          </a:xfrm>
          <a:prstGeom prst="roundRect">
            <a:avLst>
              <a:gd name="adj" fmla="val 22222"/>
            </a:avLst>
          </a:prstGeom>
          <a:solidFill>
            <a:srgbClr val="EDECEA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4453830"/>
            <a:ext cx="3587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66800" y="6644878"/>
            <a:ext cx="412051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точки. Ущерб виден сразу или не виден вовсе.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0" y="2110680"/>
            <a:ext cx="11963400" cy="5631359"/>
          </a:xfrm>
          <a:prstGeom prst="roundRect">
            <a:avLst>
              <a:gd name="adj" fmla="val 5413"/>
            </a:avLst>
          </a:prstGeom>
          <a:solidFill>
            <a:srgbClr val="12121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567880"/>
            <a:ext cx="12153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агента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180"/>
            <a:ext cx="1127820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38900" y="3253680"/>
            <a:ext cx="6706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вход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414320" y="3063180"/>
            <a:ext cx="1722165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81020" y="3253680"/>
            <a:ext cx="12649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контекст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50784" y="3063180"/>
            <a:ext cx="1424955" cy="62865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19" name="Text 17"/>
          <p:cNvSpPr/>
          <p:nvPr/>
        </p:nvSpPr>
        <p:spPr>
          <a:xfrm>
            <a:off x="9517484" y="3253680"/>
            <a:ext cx="9677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память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790039" y="3063180"/>
            <a:ext cx="2316510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056739" y="3253680"/>
            <a:ext cx="18593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планирование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220849" y="3063180"/>
            <a:ext cx="2019300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487549" y="3253680"/>
            <a:ext cx="1562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инструмент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172200" y="3806130"/>
            <a:ext cx="1870695" cy="62865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38900" y="3996630"/>
            <a:ext cx="1413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аргументы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157195" y="3806130"/>
            <a:ext cx="1870695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423895" y="3996630"/>
            <a:ext cx="1413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142190" y="3806130"/>
            <a:ext cx="3356595" cy="628650"/>
          </a:xfrm>
          <a:prstGeom prst="roundRect">
            <a:avLst>
              <a:gd name="adj" fmla="val 50000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408890" y="3996630"/>
            <a:ext cx="29238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изменение состояния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3613085" y="3806130"/>
            <a:ext cx="2910855" cy="62865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31" name="Text 29"/>
          <p:cNvSpPr/>
          <p:nvPr/>
        </p:nvSpPr>
        <p:spPr>
          <a:xfrm>
            <a:off x="13879785" y="3996630"/>
            <a:ext cx="24647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36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следующая сессия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6172200" y="6566743"/>
            <a:ext cx="1138047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красные точки — места, где морок остаётся в системе после того, как диалог закончился.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609600" y="8008739"/>
            <a:ext cx="17068800" cy="1668661"/>
          </a:xfrm>
          <a:prstGeom prst="roundRect">
            <a:avLst>
              <a:gd name="adj" fmla="val 137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43000" y="8389739"/>
            <a:ext cx="1589341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Вредоносный ввод может сохраниться сегодня, а позднее привести к чтению чужих данных или действию в другой сессии и для другого пользователя.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4668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ПЕРВИЧНЫЙ СЕГМЕНТ · ГИПОТЕЗА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8200" y="97155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Банк, НФО, КИИ: организации, в которых проверка не успевает за изменениями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7137335" y="197733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600" y="2472630"/>
            <a:ext cx="5562600" cy="5558879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929830"/>
            <a:ext cx="5113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Покупатель / ЛПР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3348930"/>
            <a:ext cx="4787646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CISO, руководитель ДКБ или риск-функции; CTO / CIO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66800" y="4381351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4590901"/>
            <a:ext cx="478764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Снизить объём непроверенных изменений и принять риск на фактах.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362700" y="2472630"/>
            <a:ext cx="5562600" cy="5558879"/>
          </a:xfrm>
          <a:prstGeom prst="roundRect">
            <a:avLst>
              <a:gd name="adj" fmla="val 5483"/>
            </a:avLst>
          </a:prstGeom>
          <a:solidFill>
            <a:srgbClr val="121213"/>
          </a:solidFill>
          <a:ln/>
        </p:spPr>
      </p:sp>
      <p:sp>
        <p:nvSpPr>
          <p:cNvPr id="11" name="Text 9"/>
          <p:cNvSpPr/>
          <p:nvPr/>
        </p:nvSpPr>
        <p:spPr>
          <a:xfrm>
            <a:off x="6819900" y="2929830"/>
            <a:ext cx="5113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Прямой пользователь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9900" y="3348930"/>
            <a:ext cx="4787646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MLSecOps, AI Security, AppSec, Red Team, AI Platform / MLOps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819900" y="4802312"/>
            <a:ext cx="4648200" cy="19050"/>
          </a:xfrm>
          <a:prstGeom prst="rect">
            <a:avLst/>
          </a:prstGeom>
          <a:solidFill>
            <a:srgbClr val="E7E7F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19900" y="5011862"/>
            <a:ext cx="4787646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Запускать проверки до релиза и после каждого изменения модели, промпта, памяти, ролей или инструментов.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115800" y="2472630"/>
            <a:ext cx="5562600" cy="5558879"/>
          </a:xfrm>
          <a:prstGeom prst="roundRect">
            <a:avLst>
              <a:gd name="adj" fmla="val 548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0" y="2929830"/>
            <a:ext cx="5113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Потребитель результата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573000" y="3348930"/>
            <a:ext cx="4787646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агента, product owner, риск и архитектурный комитет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2573000" y="4802312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0" y="5011862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Исправить находку или принять обоснованный риск.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09600" y="8298210"/>
            <a:ext cx="17068800" cy="1379190"/>
          </a:xfrm>
          <a:prstGeom prst="roundRect">
            <a:avLst>
              <a:gd name="adj" fmla="val 16575"/>
            </a:avLst>
          </a:prstGeom>
          <a:solidFill>
            <a:srgbClr val="EDECE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8778255"/>
            <a:ext cx="4191900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5 агентов в день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5334819" y="8641110"/>
            <a:ext cx="1216448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одного из трёх специалистов. Сигнал из интервью Альфа-Банка: полноценное исследование одного агента выбивает команду из SLA.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аудит работает. Сильный агент помогает. Оба не закрывают нужный workflow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21106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ПОДХОД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57800" y="2110680"/>
            <a:ext cx="58864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ДАЁТ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9638" y="2110680"/>
            <a:ext cx="70637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ПОЧЕМУ НЕДОСТАТОЧНО ДЛЯ СЕГМЕНТА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2491680"/>
            <a:ext cx="17068800" cy="1685553"/>
          </a:xfrm>
          <a:prstGeom prst="roundRect">
            <a:avLst>
              <a:gd name="adj" fmla="val 1808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136329"/>
            <a:ext cx="44005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аудит / Red Team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57800" y="2975372"/>
            <a:ext cx="551187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 моделирует угрозы, проверяет логи, интерпретирует риск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799638" y="2975372"/>
            <a:ext cx="661420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Дорого, медленно, зависит от редкой экспертизы; разовый отчёт устаревает после изменений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09600" y="4329633"/>
            <a:ext cx="17068800" cy="1915344"/>
          </a:xfrm>
          <a:prstGeom prst="roundRect">
            <a:avLst>
              <a:gd name="adj" fmla="val 15914"/>
            </a:avLst>
          </a:prstGeom>
          <a:solidFill>
            <a:srgbClr val="121213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891088"/>
            <a:ext cx="412051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Сильный агент с инфраструктурой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57800" y="4928220"/>
            <a:ext cx="551187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исследует гипотезы, генерирует атаки, работает с документацией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799638" y="4748733"/>
            <a:ext cx="6614208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SaaS и трассы нельзя выносить за контур; нет независимого state oracle и воспроизводимого workflow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09600" y="6397377"/>
            <a:ext cx="17068800" cy="1685627"/>
          </a:xfrm>
          <a:prstGeom prst="roundRect">
            <a:avLst>
              <a:gd name="adj" fmla="val 18082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7042100"/>
            <a:ext cx="44005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Prompt-only проверка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57800" y="7060629"/>
            <a:ext cx="588647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проверяет реакцию на запрос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799638" y="6881143"/>
            <a:ext cx="661420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подтверждает запись в память, межсессионный эффект и реальный вызов инструмента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09600" y="8349704"/>
            <a:ext cx="17068800" cy="1327696"/>
          </a:xfrm>
          <a:prstGeom prst="roundRect">
            <a:avLst>
              <a:gd name="adj" fmla="val 17218"/>
            </a:avLst>
          </a:prstGeom>
          <a:solidFill>
            <a:srgbClr val="EDECEA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8654504"/>
            <a:ext cx="1648206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9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Ориентиры: публичный agentic-аудит — от 400–800 тыс. ₽ и 2–6 недель · активный исследовательский агент — от $100/мес., но это не готовый процесс для банка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MOROK автоматизирует полный цикл agentic red teaming в авторизованном контуре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17068800" cy="3505126"/>
          </a:xfrm>
          <a:prstGeom prst="roundRect">
            <a:avLst>
              <a:gd name="adj" fmla="val 8696"/>
            </a:avLst>
          </a:prstGeom>
          <a:solidFill>
            <a:srgbClr val="121213"/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2644080"/>
            <a:ext cx="2317179" cy="1459185"/>
          </a:xfrm>
          <a:prstGeom prst="roundRect">
            <a:avLst>
              <a:gd name="adj" fmla="val 1305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10780"/>
            <a:ext cx="1936179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архитектура API · роли · инструменты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4236616"/>
            <a:ext cx="25488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17329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834185" y="2644080"/>
            <a:ext cx="2317254" cy="1150590"/>
          </a:xfrm>
          <a:prstGeom prst="roundRect">
            <a:avLst>
              <a:gd name="adj" fmla="val 16557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062785" y="2910780"/>
            <a:ext cx="1936254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угроз и сценарии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34185" y="3928021"/>
            <a:ext cx="25489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84788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01644" y="2644080"/>
            <a:ext cx="2317179" cy="1150590"/>
          </a:xfrm>
          <a:prstGeom prst="roundRect">
            <a:avLst>
              <a:gd name="adj" fmla="val 16557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30244" y="2910780"/>
            <a:ext cx="193617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многошаговое выполнение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1644" y="3928021"/>
            <a:ext cx="25488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52173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69028" y="2644080"/>
            <a:ext cx="2317254" cy="1767780"/>
          </a:xfrm>
          <a:prstGeom prst="roundRect">
            <a:avLst>
              <a:gd name="adj" fmla="val 10776"/>
            </a:avLst>
          </a:prstGeom>
          <a:solidFill>
            <a:srgbClr val="EF3124"/>
          </a:solidFill>
          <a:ln/>
        </p:spPr>
      </p:sp>
      <p:sp>
        <p:nvSpPr>
          <p:cNvPr id="18" name="Text 16"/>
          <p:cNvSpPr/>
          <p:nvPr/>
        </p:nvSpPr>
        <p:spPr>
          <a:xfrm>
            <a:off x="9597628" y="2910780"/>
            <a:ext cx="1936254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наблюдение память · трассы · tool calls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69028" y="4545211"/>
            <a:ext cx="23934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state oracle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19632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2136487" y="2644080"/>
            <a:ext cx="2317254" cy="1459185"/>
          </a:xfrm>
          <a:prstGeom prst="roundRect">
            <a:avLst>
              <a:gd name="adj" fmla="val 13055"/>
            </a:avLst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2365087" y="2910780"/>
            <a:ext cx="1936254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проверка цели и затронутого эффекта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36487" y="4236616"/>
            <a:ext cx="23934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state oracle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587091" y="3548881"/>
            <a:ext cx="2597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24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4903946" y="2644080"/>
            <a:ext cx="2317254" cy="2076376"/>
          </a:xfrm>
          <a:prstGeom prst="roundRect">
            <a:avLst>
              <a:gd name="adj" fmla="val 917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5132546" y="2910780"/>
            <a:ext cx="1936254" cy="158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evidence-отчёт и регрессионный тест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03946" y="4853806"/>
            <a:ext cx="25489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9600" y="5882506"/>
            <a:ext cx="5562600" cy="3794894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7286551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Разнообразные сценарии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066800" y="7886626"/>
            <a:ext cx="511302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один jailbreak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362700" y="5882506"/>
            <a:ext cx="5562600" cy="3794894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19900" y="7093223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компрометации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6819900" y="7693298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мнение модели о том, что «похоже на атаку»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2115800" y="5882506"/>
            <a:ext cx="5562600" cy="3794894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0" y="7093223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Повторная проверка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12573000" y="7693298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изменения или исправления агента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движок, три разные упаковки — сегмент пока не выбран окончательно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17068800" cy="971550"/>
          </a:xfrm>
          <a:prstGeom prst="roundRect">
            <a:avLst>
              <a:gd name="adj" fmla="val 31373"/>
            </a:avLst>
          </a:prstGeom>
          <a:solidFill>
            <a:srgbClr val="121213"/>
          </a:solidFill>
          <a:ln/>
        </p:spPr>
      </p:sp>
      <p:sp>
        <p:nvSpPr>
          <p:cNvPr id="5" name="Text 3"/>
          <p:cNvSpPr/>
          <p:nvPr/>
        </p:nvSpPr>
        <p:spPr>
          <a:xfrm>
            <a:off x="5010150" y="2453580"/>
            <a:ext cx="28289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engine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7810500" y="2558355"/>
            <a:ext cx="76200" cy="7620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7" name="Text 5"/>
          <p:cNvSpPr/>
          <p:nvPr/>
        </p:nvSpPr>
        <p:spPr>
          <a:xfrm>
            <a:off x="8115300" y="2453580"/>
            <a:ext cx="22631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oracle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01300" y="2558355"/>
            <a:ext cx="76200" cy="76200"/>
          </a:xfrm>
          <a:prstGeom prst="ellipse">
            <a:avLst/>
          </a:prstGeom>
          <a:solidFill>
            <a:srgbClr val="EF3124"/>
          </a:solidFill>
          <a:ln/>
        </p:spPr>
      </p:sp>
      <p:sp>
        <p:nvSpPr>
          <p:cNvPr id="9" name="Text 7"/>
          <p:cNvSpPr/>
          <p:nvPr/>
        </p:nvSpPr>
        <p:spPr>
          <a:xfrm>
            <a:off x="10706100" y="2453580"/>
            <a:ext cx="28289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report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09600" y="3348930"/>
            <a:ext cx="5562600" cy="4700736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806130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Регулируемые организации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066800" y="4463355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711005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Контурный прогон, evidence для риск-комитета, регрессия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66800" y="6533406"/>
            <a:ext cx="4648200" cy="1059061"/>
          </a:xfrm>
          <a:prstGeom prst="roundRect">
            <a:avLst>
              <a:gd name="adj" fmla="val 14390"/>
            </a:avLst>
          </a:prstGeom>
          <a:solidFill>
            <a:srgbClr val="EDECEA"/>
          </a:solidFill>
          <a:ln/>
        </p:spPr>
      </p:sp>
      <p:sp>
        <p:nvSpPr>
          <p:cNvPr id="15" name="Text 13"/>
          <p:cNvSpPr/>
          <p:nvPr/>
        </p:nvSpPr>
        <p:spPr>
          <a:xfrm>
            <a:off x="1314450" y="6742956"/>
            <a:ext cx="42923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on-prem-инструмент для ДКБ, AI-платформы и команд агентов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62700" y="3348930"/>
            <a:ext cx="5562600" cy="4700736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19900" y="3806130"/>
            <a:ext cx="511302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Кибербез-компании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6819900" y="4463355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6819900" y="4711005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пропускная способность и повторный retest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819900" y="6533406"/>
            <a:ext cx="4648200" cy="1059061"/>
          </a:xfrm>
          <a:prstGeom prst="roundRect">
            <a:avLst>
              <a:gd name="adj" fmla="val 14390"/>
            </a:avLst>
          </a:prstGeom>
          <a:solidFill>
            <a:srgbClr val="EDECEA"/>
          </a:solidFill>
          <a:ln/>
        </p:spPr>
      </p:sp>
      <p:sp>
        <p:nvSpPr>
          <p:cNvPr id="21" name="Text 19"/>
          <p:cNvSpPr/>
          <p:nvPr/>
        </p:nvSpPr>
        <p:spPr>
          <a:xfrm>
            <a:off x="7067550" y="6742956"/>
            <a:ext cx="42923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white-label / on-prem-модуль, библиотека сценариев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115800" y="3348930"/>
            <a:ext cx="5562600" cy="4700736"/>
          </a:xfrm>
          <a:prstGeom prst="roundRect">
            <a:avLst>
              <a:gd name="adj" fmla="val 6484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0" y="3806130"/>
            <a:ext cx="47876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Независимые компании с агентами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12573000" y="4891980"/>
            <a:ext cx="46482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5" name="Text 23"/>
          <p:cNvSpPr/>
          <p:nvPr/>
        </p:nvSpPr>
        <p:spPr>
          <a:xfrm>
            <a:off x="12573000" y="5139630"/>
            <a:ext cx="478764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держать редкую AI Security-команду внутри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573000" y="6533406"/>
            <a:ext cx="4648200" cy="1059061"/>
          </a:xfrm>
          <a:prstGeom prst="roundRect">
            <a:avLst>
              <a:gd name="adj" fmla="val 14390"/>
            </a:avLst>
          </a:prstGeom>
          <a:solidFill>
            <a:srgbClr val="EDECEA"/>
          </a:solidFill>
          <a:ln/>
        </p:spPr>
      </p:sp>
      <p:sp>
        <p:nvSpPr>
          <p:cNvPr id="27" name="Text 25"/>
          <p:cNvSpPr/>
          <p:nvPr/>
        </p:nvSpPr>
        <p:spPr>
          <a:xfrm>
            <a:off x="12820650" y="6742956"/>
            <a:ext cx="42923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регулярный сервис: прогон + экспертный triage + retest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9600" y="8316367"/>
            <a:ext cx="17068800" cy="1361033"/>
          </a:xfrm>
          <a:custGeom>
            <a:avLst/>
            <a:gdLst/>
            <a:ahLst/>
            <a:cxnLst/>
            <a:rect l="l" t="t" r="r" b="b"/>
            <a:pathLst>
              <a:path w="17068800" h="1361033">
                <a:moveTo>
                  <a:pt x="0" y="0"/>
                </a:moveTo>
                <a:lnTo>
                  <a:pt x="16840200" y="0"/>
                </a:lnTo>
                <a:arcTo hR="228600" wR="228600" stAng="16200000" swAng="5400000"/>
                <a:lnTo>
                  <a:pt x="17068800" y="1132433"/>
                </a:lnTo>
                <a:arcTo hR="228600" wR="228600" stAng="0" swAng="5400000"/>
                <a:lnTo>
                  <a:pt x="0" y="136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600" y="8316367"/>
            <a:ext cx="76200" cy="1361033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8621167"/>
            <a:ext cx="16560546" cy="78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 </a:t>
            </a:r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первый канал продаж не выбран. Проверяем willingness to pay, конверсию пилота, длительность цикла и долю повторных запусков.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446181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путь от описания агента к повторяемой проверке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493490"/>
            <a:ext cx="5562600" cy="3148980"/>
          </a:xfrm>
          <a:prstGeom prst="roundRect">
            <a:avLst>
              <a:gd name="adj" fmla="val 967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191259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31264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architecture / API / tool contract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362700" y="1493490"/>
            <a:ext cx="5562600" cy="3148980"/>
          </a:xfrm>
          <a:prstGeom prst="roundRect">
            <a:avLst>
              <a:gd name="adj" fmla="val 967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81800" y="191259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81800" y="231264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доступность тестового контура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15800" y="1493490"/>
            <a:ext cx="5562600" cy="3148980"/>
          </a:xfrm>
          <a:prstGeom prst="roundRect">
            <a:avLst>
              <a:gd name="adj" fmla="val 967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34900" y="191259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34900" y="231264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сценарий, роли и число попыток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09600" y="4832970"/>
            <a:ext cx="5562600" cy="3148980"/>
          </a:xfrm>
          <a:prstGeom prst="roundRect">
            <a:avLst>
              <a:gd name="adj" fmla="val 967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00" y="525207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28700" y="5652120"/>
            <a:ext cx="4866132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multi-session кампанию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362700" y="4832970"/>
            <a:ext cx="5562600" cy="3148980"/>
          </a:xfrm>
          <a:prstGeom prst="roundRect">
            <a:avLst>
              <a:gd name="adj" fmla="val 9679"/>
            </a:avLst>
          </a:prstGeom>
          <a:solidFill>
            <a:srgbClr val="121213"/>
          </a:solidFill>
          <a:ln/>
        </p:spPr>
      </p:sp>
      <p:sp>
        <p:nvSpPr>
          <p:cNvPr id="17" name="Text 15"/>
          <p:cNvSpPr/>
          <p:nvPr/>
        </p:nvSpPr>
        <p:spPr>
          <a:xfrm>
            <a:off x="6781800" y="525207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81800" y="5652120"/>
            <a:ext cx="519684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ASR, evidence и report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115800" y="4832970"/>
            <a:ext cx="5562600" cy="3148980"/>
          </a:xfrm>
          <a:prstGeom prst="roundRect">
            <a:avLst>
              <a:gd name="adj" fmla="val 967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534900" y="5252070"/>
            <a:ext cx="51968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534900" y="5652120"/>
            <a:ext cx="519684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74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 сценарий для retest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609600" y="8248650"/>
            <a:ext cx="17068800" cy="14287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" y="8665890"/>
            <a:ext cx="2807867" cy="6323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ЭКСПЕРТУ ПОПРОБОВАТЬ В ДЕМО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135785" y="8591550"/>
            <a:ext cx="11832" cy="7429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5" name="Text 23"/>
          <p:cNvSpPr/>
          <p:nvPr/>
        </p:nvSpPr>
        <p:spPr>
          <a:xfrm>
            <a:off x="4490517" y="8591550"/>
            <a:ext cx="1311260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— выбрать </a:t>
            </a:r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generated-bac </a:t>
            </a:r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2 — запустить 4 попытки от </a:t>
            </a:r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cus=1001 </a:t>
            </a:r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 </a:t>
            </a:r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cus=1002 </a:t>
            </a:r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3 — найти в evidence реальный tool call с аргументом </a:t>
            </a:r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cus=1002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4225588" cy="1223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</a:t>
            </a:r>
            <a:pPr algn="l" indent="0" marL="0">
              <a:lnSpc>
                <a:spcPct val="104348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cus=1001 </a:t>
            </a:r>
            <a:pPr algn="l" indent="0" marL="0">
              <a:lnSpc>
                <a:spcPct val="104348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запрашивает данные </a:t>
            </a:r>
            <a:pPr algn="l" indent="0" marL="0">
              <a:lnSpc>
                <a:spcPct val="104348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cus=1002 </a:t>
            </a:r>
            <a:pPr algn="l" indent="0" marL="0">
              <a:lnSpc>
                <a:spcPct val="104348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Успех — вызов инструмента, а не формулировка ответа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7137335" y="1566863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062163"/>
            <a:ext cx="5267325" cy="6392242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2481263"/>
            <a:ext cx="48720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ВВОД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919413"/>
            <a:ext cx="487203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и роли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28700" y="3525143"/>
            <a:ext cx="4429125" cy="2217241"/>
          </a:xfrm>
          <a:prstGeom prst="roundRect">
            <a:avLst>
              <a:gd name="adj" fmla="val 6873"/>
            </a:avLst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91843"/>
            <a:ext cx="4028599" cy="17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831"/>
              </a:lnSpc>
              <a:buNone/>
            </a:pPr>
            <a:r>
              <a:rPr lang="en-US" sz="1950" dirty="0">
                <a:solidFill>
                  <a:srgbClr val="121213"/>
                </a:solidFill>
                <a:highlight>
                  <a:srgbClr val="ED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generated-bac attacker: cus=1001 target: cus=1002 attempts: 4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067425" y="2062163"/>
            <a:ext cx="5267325" cy="6392242"/>
          </a:xfrm>
          <a:prstGeom prst="roundRect">
            <a:avLst>
              <a:gd name="adj" fmla="val 578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86525" y="2481263"/>
            <a:ext cx="48720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ИСПОЛНЕНИЕ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6525" y="2919413"/>
            <a:ext cx="4561999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варианта одной BAC-атаки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86525" y="3921323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6696075" y="4092773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прямой запрос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486525" y="4688086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5" name="Text 13"/>
          <p:cNvSpPr/>
          <p:nvPr/>
        </p:nvSpPr>
        <p:spPr>
          <a:xfrm>
            <a:off x="6696075" y="4859536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ссылка на полномочия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486525" y="5454848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6696075" y="5626298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сравнение клиентов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486525" y="6221611"/>
            <a:ext cx="4429125" cy="652463"/>
          </a:xfrm>
          <a:prstGeom prst="roundRect">
            <a:avLst>
              <a:gd name="adj" fmla="val 20438"/>
            </a:avLst>
          </a:prstGeom>
          <a:solidFill>
            <a:srgbClr val="E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6696075" y="6393061"/>
            <a:ext cx="4142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«проверка API»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525250" y="2062163"/>
            <a:ext cx="6153150" cy="6392242"/>
          </a:xfrm>
          <a:prstGeom prst="roundRect">
            <a:avLst>
              <a:gd name="adj" fmla="val 4954"/>
            </a:avLst>
          </a:prstGeom>
          <a:solidFill>
            <a:srgbClr val="121213"/>
          </a:solidFill>
          <a:ln/>
        </p:spPr>
      </p:sp>
      <p:sp>
        <p:nvSpPr>
          <p:cNvPr id="21" name="Text 19"/>
          <p:cNvSpPr/>
          <p:nvPr/>
        </p:nvSpPr>
        <p:spPr>
          <a:xfrm>
            <a:off x="11944350" y="2481263"/>
            <a:ext cx="5846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944350" y="2919413"/>
            <a:ext cx="584644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Фактический журнал вызова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944350" y="3525143"/>
            <a:ext cx="5314950" cy="3443362"/>
          </a:xfrm>
          <a:prstGeom prst="roundRect">
            <a:avLst>
              <a:gd name="adj" fmla="val 4426"/>
            </a:avLst>
          </a:prstGeom>
          <a:solidFill>
            <a:srgbClr val="D6D6E5">
              <a:alpha val="7000"/>
            </a:srgbClr>
          </a:solidFill>
          <a:ln w="19050">
            <a:solidFill>
              <a:srgbClr val="E7E7F8">
                <a:alpha val="18000"/>
              </a:srgbClr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2187825" y="4860131"/>
            <a:ext cx="482799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EEEEFB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кадр access log из реального run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036888" y="5313462"/>
            <a:ext cx="51298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видны оба cus · вставить до защиты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944350" y="7178055"/>
            <a:ext cx="547439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cus=1001 → tool argument cus=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1002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609600" y="8721105"/>
            <a:ext cx="17068800" cy="956295"/>
          </a:xfrm>
          <a:prstGeom prst="roundRect">
            <a:avLst>
              <a:gd name="adj" fmla="val 23905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9037290"/>
            <a:ext cx="46619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из 4 доказанных BAC-атак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5609704" y="9056340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ASR = 100%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629004" y="9025905"/>
            <a:ext cx="931662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90"/>
              </a:lnSpc>
              <a:buNone/>
            </a:pPr>
            <a:r>
              <a:rPr lang="en-US" sz="195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режим vulnerable · учебный стенд с синтетическими данными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37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текущей системы: от конфигурации цели к state-based verdict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7137335" y="152400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981200"/>
            <a:ext cx="10020300" cy="7696200"/>
          </a:xfrm>
          <a:prstGeom prst="roundRect">
            <a:avLst>
              <a:gd name="adj" fmla="val 3960"/>
            </a:avLst>
          </a:prstGeom>
          <a:solidFill>
            <a:srgbClr val="121213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286000"/>
            <a:ext cx="101841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РЕАЛИЗОВАННЫЙ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90600" y="26479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7622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Описание цели </a:t>
            </a:r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архитектура + system card + config/target.yaml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8250" y="323850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0600" y="34290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35433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Preflight: doctor </a:t>
            </a:r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проверка стенда и конфигурации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8250" y="401955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90600" y="42100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43243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layer </a:t>
            </a:r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YAML-каталог + adaptive BAC generator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8250" y="480060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49911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51054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Runner </a:t>
            </a:r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роли + сессии + шаги + попытки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38250" y="558165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90600" y="57721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81100" y="58864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stand </a:t>
            </a:r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agent-api → ReAct agent → memory / MCP tools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8250" y="6362700"/>
            <a:ext cx="19050" cy="11430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21" name="Shape 19"/>
          <p:cNvSpPr/>
          <p:nvPr/>
        </p:nvSpPr>
        <p:spPr>
          <a:xfrm>
            <a:off x="990600" y="65532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66675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Tracer </a:t>
            </a:r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memory snapshot + журнал tool calls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38250" y="7143750"/>
            <a:ext cx="19050" cy="11430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733425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EF3124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744855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EF312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Scorer </a:t>
            </a:r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assertions → ASR → finding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8250" y="7924800"/>
            <a:ext cx="19050" cy="114300"/>
          </a:xfrm>
          <a:prstGeom prst="rect">
            <a:avLst/>
          </a:prstGeom>
          <a:solidFill>
            <a:srgbClr val="E9E9FA">
              <a:alpha val="3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90600" y="8115300"/>
            <a:ext cx="9258300" cy="514350"/>
          </a:xfrm>
          <a:prstGeom prst="roundRect">
            <a:avLst>
              <a:gd name="adj" fmla="val 25926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81100" y="8229600"/>
            <a:ext cx="91550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highlight>
                  <a:srgbClr val="FCFCFD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storage &amp; report </a:t>
            </a:r>
            <a:pPr algn="l" indent="0" marL="0">
              <a:lnSpc>
                <a:spcPct val="111111"/>
              </a:lnSpc>
              <a:buNone/>
            </a:pPr>
            <a:r>
              <a:rPr lang="en-US" sz="180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runs/&lt;run-id&gt;: JSON evidence + Markdown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820400" y="1981200"/>
            <a:ext cx="6858000" cy="2726531"/>
          </a:xfrm>
          <a:prstGeom prst="roundRect">
            <a:avLst>
              <a:gd name="adj" fmla="val 11179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1163300" y="2247900"/>
            <a:ext cx="67894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СТАТУС УЗЛОВ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163300" y="2590800"/>
            <a:ext cx="6789420" cy="364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 BAC generator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сейчас покрывает BAC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1163300" y="3031331"/>
            <a:ext cx="635736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Tracer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адаптирован к MongoDB и access log учебного стенда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11163300" y="3793331"/>
            <a:ext cx="635736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Scorer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источник verdict, а не LLM-судья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0820400" y="4898231"/>
            <a:ext cx="6858000" cy="3243783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1125200" y="5126831"/>
            <a:ext cx="68732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УЖЕ РЕАЛИЗОВАНО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125200" y="5450681"/>
            <a:ext cx="6435852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YAML-сценарии, adaptive BAC, multi-user / multi-session Runner, memory snapshots, access log, assertions, ASR, артефакты запуска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1125200" y="6510338"/>
            <a:ext cx="6248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38" name="Text 36"/>
          <p:cNvSpPr/>
          <p:nvPr/>
        </p:nvSpPr>
        <p:spPr>
          <a:xfrm>
            <a:off x="11125200" y="6624638"/>
            <a:ext cx="68732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СЛЕДУЮЩАЯ ЗАДАЧА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125200" y="6948488"/>
            <a:ext cx="6435852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Универсальные target/state adapters, автоматическое построение модели угроз, live-подтверждение memory lifecycle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0820400" y="8332515"/>
            <a:ext cx="6858000" cy="1344885"/>
          </a:xfrm>
          <a:prstGeom prst="roundRect">
            <a:avLst>
              <a:gd name="adj" fmla="val 16998"/>
            </a:avLst>
          </a:prstGeom>
          <a:solidFill>
            <a:srgbClr val="EDECEA"/>
          </a:solidFill>
          <a:ln/>
        </p:spPr>
      </p:sp>
      <p:sp>
        <p:nvSpPr>
          <p:cNvPr id="41" name="Text 39"/>
          <p:cNvSpPr/>
          <p:nvPr/>
        </p:nvSpPr>
        <p:spPr>
          <a:xfrm>
            <a:off x="11125200" y="8542065"/>
            <a:ext cx="6435852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и Streamlit UI используют один pipeline. Langfuse опционален и не участвует в security-verdict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определяем наблюдаемый эффект — и только затем считаем ASR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4953000" cy="2828925"/>
          </a:xfrm>
          <a:prstGeom prst="roundRect">
            <a:avLst>
              <a:gd name="adj" fmla="val 10774"/>
            </a:avLst>
          </a:prstGeom>
          <a:solidFill>
            <a:srgbClr val="12121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67880"/>
            <a:ext cx="44424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ТЕКУЩАЯ МЕТРИКА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3025080"/>
            <a:ext cx="4159758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ASR = </a:t>
            </a:r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доказанные успешные попытки </a:t>
            </a:r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завершённые попытки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09600" y="5130105"/>
            <a:ext cx="4953000" cy="276225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5587305"/>
            <a:ext cx="41597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СОСТАВНАЯ МЕТРИКА ДЛЯ ПАМЯТИ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6235005"/>
            <a:ext cx="415975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доставка → запись → сохранение → извлечение → действие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09600" y="8082855"/>
            <a:ext cx="4953000" cy="1996380"/>
          </a:xfrm>
          <a:custGeom>
            <a:avLst/>
            <a:gdLst/>
            <a:ahLst/>
            <a:cxnLst/>
            <a:rect l="l" t="t" r="r" b="b"/>
            <a:pathLst>
              <a:path w="4953000" h="1996380">
                <a:moveTo>
                  <a:pt x="0" y="0"/>
                </a:moveTo>
                <a:lnTo>
                  <a:pt x="4724400" y="0"/>
                </a:lnTo>
                <a:arcTo hR="228600" wR="228600" stAng="16200000" swAng="5400000"/>
                <a:lnTo>
                  <a:pt x="4953000" y="1767780"/>
                </a:lnTo>
                <a:arcTo hR="228600" wR="228600" stAng="0" swAng="5400000"/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8082855"/>
            <a:ext cx="76200" cy="199638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8387655"/>
            <a:ext cx="4238244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Ограничение: LLM-судья не используется как источник истины; его надёжность остаётся рискованной AI-гипотезой.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753100" y="2110680"/>
            <a:ext cx="11925300" cy="7566720"/>
          </a:xfrm>
          <a:prstGeom prst="roundRect">
            <a:avLst>
              <a:gd name="adj" fmla="val 402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34100" y="24916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АТАКИ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63200" y="2491680"/>
            <a:ext cx="76276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СЧИТАЕМ ДОКАЗАТЕЛЬСТВОМ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34100" y="2872680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6134100" y="3044130"/>
            <a:ext cx="412051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Нарушение доступа через инструмент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363200" y="3044130"/>
            <a:ext cx="7142226" cy="760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атакующего не совпадает с </a:t>
            </a:r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 </a:t>
            </a:r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фактическом tool call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134100" y="3919389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0" name="Text 18"/>
          <p:cNvSpPr/>
          <p:nvPr/>
        </p:nvSpPr>
        <p:spPr>
          <a:xfrm>
            <a:off x="6134100" y="4090839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память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363200" y="4090839"/>
            <a:ext cx="71422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показывает нужную запись и её scope / provenance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134100" y="4961334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3" name="Text 21"/>
          <p:cNvSpPr/>
          <p:nvPr/>
        </p:nvSpPr>
        <p:spPr>
          <a:xfrm>
            <a:off x="6134100" y="5132784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Межсессионное извлечение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363200" y="5132784"/>
            <a:ext cx="71422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Другой пользователь получает след ранее записанной policy / memory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134100" y="6003280"/>
            <a:ext cx="111633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6" name="Text 24"/>
          <p:cNvSpPr/>
          <p:nvPr/>
        </p:nvSpPr>
        <p:spPr>
          <a:xfrm>
            <a:off x="6134100" y="6174730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Вредное действие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363200" y="6174730"/>
            <a:ext cx="7142226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или контекст причинно связаны с некорректным tool call либо иным проверяемым side effect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38175"/>
            <a:ext cx="63577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ТЕКУЩИЙ ПОДТВЕРЖДЁННЫЙ РЕЗУЛЬТАТ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76550" y="609600"/>
            <a:ext cx="285750" cy="285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95650" y="638175"/>
            <a:ext cx="1130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b="1" spc="300" kern="0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MOROK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09600" y="1123950"/>
            <a:ext cx="9048750" cy="7265715"/>
          </a:xfrm>
          <a:prstGeom prst="roundRect">
            <a:avLst>
              <a:gd name="adj" fmla="val 4195"/>
            </a:avLst>
          </a:prstGeom>
          <a:solidFill>
            <a:srgbClr val="121213"/>
          </a:solidFill>
          <a:ln/>
        </p:spPr>
      </p:sp>
      <p:sp>
        <p:nvSpPr>
          <p:cNvPr id="6" name="Text 3"/>
          <p:cNvSpPr/>
          <p:nvPr/>
        </p:nvSpPr>
        <p:spPr>
          <a:xfrm>
            <a:off x="1219200" y="3510930"/>
            <a:ext cx="861250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5000" b="1" spc="-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ct val="86957"/>
              </a:lnSpc>
              <a:buNone/>
            </a:pPr>
            <a:r>
              <a:rPr lang="en-US" sz="15000" b="1" spc="-450" kern="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86957"/>
              </a:lnSpc>
              <a:buNone/>
            </a:pPr>
            <a:r>
              <a:rPr lang="en-US" sz="15000" b="1" spc="-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7" name="Text 4"/>
          <p:cNvSpPr/>
          <p:nvPr/>
        </p:nvSpPr>
        <p:spPr>
          <a:xfrm>
            <a:off x="1219200" y="5606430"/>
            <a:ext cx="861250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доказанные BAC-атаки · ASR = 100%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848850" y="1123950"/>
            <a:ext cx="7829550" cy="5595119"/>
          </a:xfrm>
          <a:prstGeom prst="roundRect">
            <a:avLst>
              <a:gd name="adj" fmla="val 5448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0306050" y="3226147"/>
            <a:ext cx="7606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Подтверждённый факт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06050" y="3645247"/>
            <a:ext cx="712260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cus=1001 → tool argument cus=</a:t>
            </a:r>
            <a:pPr algn="l" indent="0" marL="0">
              <a:lnSpc>
                <a:spcPct val="132468"/>
              </a:lnSpc>
              <a:buNone/>
            </a:pPr>
            <a:r>
              <a:rPr lang="en-US" sz="255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1002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9848850" y="6909569"/>
            <a:ext cx="7829550" cy="1480096"/>
          </a:xfrm>
          <a:prstGeom prst="roundRect">
            <a:avLst>
              <a:gd name="adj" fmla="val 20593"/>
            </a:avLst>
          </a:prstGeom>
          <a:solidFill>
            <a:srgbClr val="EDECEA"/>
          </a:solidFill>
          <a:ln/>
        </p:spPr>
      </p:sp>
      <p:sp>
        <p:nvSpPr>
          <p:cNvPr id="12" name="Text 9"/>
          <p:cNvSpPr/>
          <p:nvPr/>
        </p:nvSpPr>
        <p:spPr>
          <a:xfrm>
            <a:off x="10306050" y="7290569"/>
            <a:ext cx="712260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YAML-сценария · 77 автоматических тестов — инженерная готовность, не customer traction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609600" y="8618265"/>
            <a:ext cx="17068800" cy="1059135"/>
          </a:xfrm>
          <a:custGeom>
            <a:avLst/>
            <a:gdLst/>
            <a:ahLst/>
            <a:cxnLst/>
            <a:rect l="l" t="t" r="r" b="b"/>
            <a:pathLst>
              <a:path w="17068800" h="1059135">
                <a:moveTo>
                  <a:pt x="0" y="0"/>
                </a:moveTo>
                <a:lnTo>
                  <a:pt x="16840200" y="0"/>
                </a:lnTo>
                <a:arcTo hR="228600" wR="228600" stAng="16200000" swAng="5400000"/>
                <a:lnTo>
                  <a:pt x="17068800" y="830535"/>
                </a:lnTo>
                <a:arcTo hR="228600" wR="228600" stAng="0" swAng="5400000"/>
                <a:lnTo>
                  <a:pt x="0" y="10591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600" y="8618265"/>
            <a:ext cx="76200" cy="1059135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8961165"/>
            <a:ext cx="1768602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интерпретации: 1 класс атак × 1 учебный инвестиционный стенд × 4 попытки × намеренно уязвимый режим.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должно стать правдой, чтобы это был продукт, а не разовое демо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2072580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00300" y="2072580"/>
            <a:ext cx="59713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ГИПОТЕЗА DAY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19306" y="2072580"/>
            <a:ext cx="55119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ПРОВЕРЯЕМ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20700" y="2072580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СТАТУС СЕГОДНЯ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9600" y="2415480"/>
            <a:ext cx="17068800" cy="1151483"/>
          </a:xfrm>
          <a:prstGeom prst="roundRect">
            <a:avLst>
              <a:gd name="adj" fmla="val 1985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848347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400300" y="2644080"/>
            <a:ext cx="559136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увеличит покрытие и сократит время аудита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8019306" y="2657847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Время, число и разнообразие сценариев, доля проверенных агентов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3220700" y="2836441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· нет замера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09600" y="3681264"/>
            <a:ext cx="17068800" cy="1151483"/>
          </a:xfrm>
          <a:prstGeom prst="roundRect">
            <a:avLst>
              <a:gd name="adj" fmla="val 1985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114130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400300" y="3909864"/>
            <a:ext cx="559136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и API улучшают релевантность атак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8019306" y="3923630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ASR и релевантность с документацией и без неё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220700" y="4102224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· нет сравнения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09600" y="4947047"/>
            <a:ext cx="17068800" cy="1385888"/>
          </a:xfrm>
          <a:prstGeom prst="roundRect">
            <a:avLst>
              <a:gd name="adj" fmla="val 16495"/>
            </a:avLst>
          </a:prstGeom>
          <a:solidFill>
            <a:srgbClr val="121213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5497116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2400300" y="5466383"/>
            <a:ext cx="5971356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повышает доверие к находке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8019306" y="5306616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принятых заказчиком findings, false positives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220700" y="5175647"/>
            <a:ext cx="4120515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Частично · state-based evidence реализован, внешней оценки нет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09600" y="6447234"/>
            <a:ext cx="17068800" cy="1151483"/>
          </a:xfrm>
          <a:prstGeom prst="roundRect">
            <a:avLst>
              <a:gd name="adj" fmla="val 1985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" y="6880101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2400300" y="6675834"/>
            <a:ext cx="5591361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Найденная атака станет регулярной проверкой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8019306" y="6689601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изменений, прошедших retest; число повторных запусков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3220700" y="6713413"/>
            <a:ext cx="412051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· нужен цикл на версии после фикса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609600" y="7713018"/>
            <a:ext cx="17068800" cy="1123950"/>
          </a:xfrm>
          <a:prstGeom prst="roundRect">
            <a:avLst>
              <a:gd name="adj" fmla="val 20339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66800" y="8132118"/>
            <a:ext cx="1219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2400300" y="8101385"/>
            <a:ext cx="5971356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первый сегмент и упаковку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8019306" y="7941618"/>
            <a:ext cx="51612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pay, пилот → контракт, цикл сделки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13220700" y="7965430"/>
            <a:ext cx="412051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35"/>
              </a:lnSpc>
              <a:buNone/>
            </a:pPr>
            <a:r>
              <a:rPr lang="en-US" sz="1875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· 3 сегмента не ранжированы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609600" y="8577263"/>
            <a:ext cx="17068800" cy="1100138"/>
          </a:xfrm>
          <a:prstGeom prst="roundRect">
            <a:avLst>
              <a:gd name="adj" fmla="val 20779"/>
            </a:avLst>
          </a:prstGeom>
          <a:solidFill>
            <a:srgbClr val="EDECEA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800" y="8805863"/>
            <a:ext cx="16639032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Сделанное discovery: 3 экспертных интервью подтвердили приоритет BAC, памяти, evidence и локального контура. Это направление, а не выручка или пилот.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Известна цена альтернатив. Свою unit-экономику ещё нужно честно посчитать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072580"/>
            <a:ext cx="5500688" cy="7604820"/>
          </a:xfrm>
          <a:prstGeom prst="roundRect">
            <a:avLst>
              <a:gd name="adj" fmla="val 554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415480"/>
            <a:ext cx="52125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КТО ПЛАТИТ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815530"/>
            <a:ext cx="521255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ДКБ / риск-функция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90600" y="3226966"/>
            <a:ext cx="52125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внутренний on-prem workflow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3731791"/>
            <a:ext cx="4738688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922291"/>
            <a:ext cx="521255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offensive security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90600" y="4333726"/>
            <a:ext cx="52125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delivery и retest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90600" y="4838551"/>
            <a:ext cx="4738688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5029051"/>
            <a:ext cx="521255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CPO / AI lead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90600" y="5440487"/>
            <a:ext cx="521255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регулярную проверку с triage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6300788" y="2072580"/>
            <a:ext cx="5974556" cy="7604820"/>
          </a:xfrm>
          <a:prstGeom prst="roundRect">
            <a:avLst>
              <a:gd name="adj" fmla="val 5102"/>
            </a:avLst>
          </a:prstGeom>
          <a:solidFill>
            <a:srgbClr val="121213"/>
          </a:solidFill>
          <a:ln/>
        </p:spPr>
      </p:sp>
      <p:sp>
        <p:nvSpPr>
          <p:cNvPr id="15" name="Text 13"/>
          <p:cNvSpPr/>
          <p:nvPr/>
        </p:nvSpPr>
        <p:spPr>
          <a:xfrm>
            <a:off x="6681788" y="2415480"/>
            <a:ext cx="57338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ЦЕНА ТЕКУЩИХ АЛЬТЕРНАТИВ · ФАКТ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81788" y="2815530"/>
            <a:ext cx="57338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19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400–800 тыс. ₽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6681788" y="3310830"/>
            <a:ext cx="53689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публичный agentic-аудит, 2–6 недель — один открытый прайс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681788" y="4149030"/>
            <a:ext cx="5212556" cy="19050"/>
          </a:xfrm>
          <a:prstGeom prst="rect">
            <a:avLst/>
          </a:prstGeom>
          <a:solidFill>
            <a:srgbClr val="E7E7F8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81788" y="4339530"/>
            <a:ext cx="57338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19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~300–500 тыс. ₽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6681788" y="4834830"/>
            <a:ext cx="53689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первичная экспертная оценка — оценка из интервью, не оферта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6681788" y="5673030"/>
            <a:ext cx="5212556" cy="19050"/>
          </a:xfrm>
          <a:prstGeom prst="rect">
            <a:avLst/>
          </a:prstGeom>
          <a:solidFill>
            <a:srgbClr val="E7E7F8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81788" y="5863530"/>
            <a:ext cx="57338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19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$100/мес.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6681788" y="6358830"/>
            <a:ext cx="536893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активный исследовательский агент плюс usage — не для контура банка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2465844" y="2072580"/>
            <a:ext cx="5212556" cy="4205288"/>
          </a:xfrm>
          <a:prstGeom prst="roundRect">
            <a:avLst>
              <a:gd name="adj" fmla="val 724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846844" y="2415480"/>
            <a:ext cx="360690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НАША КОММЕРЧЕСКАЯ ЕДИНИЦА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6482045" y="2453580"/>
            <a:ext cx="815355" cy="38100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/>
        </p:spPr>
      </p:sp>
      <p:sp>
        <p:nvSpPr>
          <p:cNvPr id="27" name="Text 25"/>
          <p:cNvSpPr/>
          <p:nvPr/>
        </p:nvSpPr>
        <p:spPr>
          <a:xfrm>
            <a:off x="16615395" y="2529780"/>
            <a:ext cx="6248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46844" y="3025080"/>
            <a:ext cx="458407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787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агент × набор инструментов × кампания сценариев × evidence-отчёт × retest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2846844" y="4334768"/>
            <a:ext cx="4450556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30" name="Text 28"/>
          <p:cNvSpPr/>
          <p:nvPr/>
        </p:nvSpPr>
        <p:spPr>
          <a:xfrm>
            <a:off x="12846844" y="4506218"/>
            <a:ext cx="4584073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579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Себестоимость кампании = LLM / compute + инфраструктура + время аналитика + поддержка адаптера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2465844" y="6468368"/>
            <a:ext cx="5212556" cy="3209032"/>
          </a:xfrm>
          <a:prstGeom prst="roundRect">
            <a:avLst>
              <a:gd name="adj" fmla="val 9498"/>
            </a:avLst>
          </a:prstGeom>
          <a:solidFill>
            <a:srgbClr val="EDECEA"/>
          </a:solidFill>
          <a:ln/>
        </p:spPr>
      </p:sp>
      <p:sp>
        <p:nvSpPr>
          <p:cNvPr id="32" name="Text 30"/>
          <p:cNvSpPr/>
          <p:nvPr/>
        </p:nvSpPr>
        <p:spPr>
          <a:xfrm>
            <a:off x="12846844" y="6811268"/>
            <a:ext cx="48956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СНИЖАЕМ COST ПОСЛЕ ПИЛОТА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46844" y="7173218"/>
            <a:ext cx="4584073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31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 и регрессия повторяют найденные сценарии · reusable адаптеры сокращают интеграцию · локальные модели снимают SaaS-риск · эксперт включается в triage, а не в каждую попытку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ускоряет исследование. Человек задаёт рамки и проверяет claims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072580"/>
            <a:ext cx="5562600" cy="2032546"/>
          </a:xfrm>
          <a:prstGeom prst="roundRect">
            <a:avLst>
              <a:gd name="adj" fmla="val 1499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37738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ИВАН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720280"/>
            <a:ext cx="494461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 пользователей, гипотезы, дизайн и продуктовая часть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6362700" y="2072580"/>
            <a:ext cx="5562600" cy="2032546"/>
          </a:xfrm>
          <a:prstGeom prst="roundRect">
            <a:avLst>
              <a:gd name="adj" fmla="val 1499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43700" y="237738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ДАНИИЛ И ТАМЕРЛАН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43700" y="2720280"/>
            <a:ext cx="52806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часть продукта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2115800" y="2072580"/>
            <a:ext cx="5562600" cy="2032546"/>
          </a:xfrm>
          <a:prstGeom prst="roundRect">
            <a:avLst>
              <a:gd name="adj" fmla="val 1499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496800" y="2377380"/>
            <a:ext cx="52806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96800" y="2720280"/>
            <a:ext cx="494461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Утверждает scope, критерий успеха и то, какие утверждения можно вынести в презентацию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609600" y="4333726"/>
            <a:ext cx="17068800" cy="381014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638526"/>
            <a:ext cx="440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95900" y="4638526"/>
            <a:ext cx="58483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ИНСТРУМЕНТЫ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41162" y="4638526"/>
            <a:ext cx="7018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КОНТРОЛЬ ЧЕЛОВЕКА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5000476"/>
            <a:ext cx="16154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5331916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и конкуренты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295900" y="5338539"/>
            <a:ext cx="584832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90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ChatGPT Deep Research, Perplexity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841162" y="5152876"/>
            <a:ext cx="657144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Источники, сегментация и формулировки проверяются командой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66800" y="6004322"/>
            <a:ext cx="16154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6156722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Интервью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295900" y="6163345"/>
            <a:ext cx="584832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90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ChatGPT, Scribe AI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841162" y="6157168"/>
            <a:ext cx="701804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сверяются с транскриптами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66800" y="6650087"/>
            <a:ext cx="1615440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6981527"/>
            <a:ext cx="44005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 и артефакты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295900" y="6988150"/>
            <a:ext cx="5848328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90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841162" y="6802487"/>
            <a:ext cx="657144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Инженерные результаты подтверждаются кодом, тестами и evidence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609600" y="8372475"/>
            <a:ext cx="17068800" cy="1304925"/>
          </a:xfrm>
          <a:prstGeom prst="roundRect">
            <a:avLst>
              <a:gd name="adj" fmla="val 17518"/>
            </a:avLst>
          </a:prstGeom>
          <a:solidFill>
            <a:srgbClr val="121213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" y="8639175"/>
            <a:ext cx="166390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продукте тот же принцип: LLM расширяет поиск атак · </a:t>
            </a:r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state oracle подтверждают факт </a:t>
            </a:r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человек интерпретирует риск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609600"/>
            <a:ext cx="17068800" cy="2228850"/>
          </a:xfrm>
          <a:prstGeom prst="roundRect">
            <a:avLst>
              <a:gd name="adj" fmla="val 13675"/>
            </a:avLst>
          </a:prstGeom>
          <a:solidFill>
            <a:srgbClr val="121213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" y="1104900"/>
            <a:ext cx="1275397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44"/>
              </a:lnSpc>
              <a:buNone/>
            </a:pPr>
            <a:r>
              <a:rPr lang="en-US" sz="3900" b="1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Помогите проверить, что MOROK становится security workflow, а не остаётся учебным стендом</a:t>
            </a:r>
            <a:endParaRPr lang="en-US" sz="3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54684" y="1495425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483334" y="1562100"/>
            <a:ext cx="16601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spc="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MOROK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609600" y="3067050"/>
            <a:ext cx="5562600" cy="4644628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990600" y="3448050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90600" y="4000500"/>
            <a:ext cx="494461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Назвать 3–5 критичных effects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990600" y="5029200"/>
            <a:ext cx="4944618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конкретного агента: что недопустимо для другого пользователя, данных или инструментов.</a:t>
            </a:r>
            <a:endParaRPr lang="en-US" sz="2025" dirty="0"/>
          </a:p>
        </p:txBody>
      </p:sp>
      <p:sp>
        <p:nvSpPr>
          <p:cNvPr id="10" name="Shape 7"/>
          <p:cNvSpPr/>
          <p:nvPr/>
        </p:nvSpPr>
        <p:spPr>
          <a:xfrm>
            <a:off x="6362700" y="3067050"/>
            <a:ext cx="5562600" cy="4644628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743700" y="3448050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743700" y="4000500"/>
            <a:ext cx="494461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Дать авторизованный тестовый контур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743700" y="5029200"/>
            <a:ext cx="4944618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/ API / tool contract и хотя бы один наблюдаемый источник состояния или трасс.</a:t>
            </a:r>
            <a:endParaRPr lang="en-US" sz="2025" dirty="0"/>
          </a:p>
        </p:txBody>
      </p:sp>
      <p:sp>
        <p:nvSpPr>
          <p:cNvPr id="14" name="Shape 11"/>
          <p:cNvSpPr/>
          <p:nvPr/>
        </p:nvSpPr>
        <p:spPr>
          <a:xfrm>
            <a:off x="12115800" y="3067050"/>
            <a:ext cx="5562600" cy="4644628"/>
          </a:xfrm>
          <a:prstGeom prst="roundRect">
            <a:avLst>
              <a:gd name="adj" fmla="val 6562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496800" y="3448050"/>
            <a:ext cx="52806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3000" b="1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2496800" y="4000500"/>
            <a:ext cx="52806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7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evidence-отчёт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12496800" y="4600575"/>
            <a:ext cx="4944618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достаточно ли его, чтобы команда агента исправила риск и запустила retest.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609600" y="7940278"/>
            <a:ext cx="13563600" cy="1737122"/>
          </a:xfrm>
          <a:prstGeom prst="roundRect">
            <a:avLst>
              <a:gd name="adj" fmla="val 13160"/>
            </a:avLst>
          </a:prstGeom>
          <a:solidFill>
            <a:srgbClr val="EDECEA"/>
          </a:solidFill>
          <a:ln/>
        </p:spPr>
      </p:sp>
      <p:sp>
        <p:nvSpPr>
          <p:cNvPr id="19" name="Text 16"/>
          <p:cNvSpPr/>
          <p:nvPr/>
        </p:nvSpPr>
        <p:spPr>
          <a:xfrm>
            <a:off x="1066800" y="8434536"/>
            <a:ext cx="13028676" cy="786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технический результат: </a:t>
            </a:r>
            <a:pPr algn="l" indent="0" marL="0">
              <a:lnSpc>
                <a:spcPct val="120615"/>
              </a:lnSpc>
              <a:buNone/>
            </a:pPr>
            <a:r>
              <a:rPr lang="en-US" sz="195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lifecycle </a:t>
            </a:r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запись → сохранение → извлечение → действие в другой сессии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4363700" y="7940278"/>
            <a:ext cx="3314700" cy="1737122"/>
          </a:xfrm>
          <a:prstGeom prst="roundRect">
            <a:avLst>
              <a:gd name="adj" fmla="val 1316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14592300" y="8256389"/>
            <a:ext cx="1022152" cy="1104900"/>
          </a:xfrm>
          <a:prstGeom prst="roundRect">
            <a:avLst>
              <a:gd name="adj" fmla="val 11182"/>
            </a:avLst>
          </a:prstGeom>
          <a:solidFill>
            <a:srgbClr val="F6F5F3"/>
          </a:solidFill>
          <a:ln w="19050">
            <a:solidFill>
              <a:srgbClr val="D2D3D9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15804952" y="8168878"/>
            <a:ext cx="1721048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GitHub / демо TODO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857625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9750" y="3933825"/>
            <a:ext cx="15809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86"/>
              </a:lnSpc>
              <a:buNone/>
            </a:pPr>
            <a:r>
              <a:rPr lang="en-US" sz="2400" b="1" spc="4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MOROK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143000" y="4619625"/>
            <a:ext cx="176022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1143000" y="5972175"/>
            <a:ext cx="17602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400" dirty="0">
                <a:solidFill>
                  <a:srgbClr val="EEEEFB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разрыв ёмкости · конкуренты · себестоимость ручной проверки · модули MOROK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3735050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AS-IS: разрыв между входящим потоком и ёмкостью проверки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161538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2110680"/>
            <a:ext cx="8286750" cy="5760839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77405"/>
            <a:ext cx="3490972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Специалистов в команде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8258994" y="2567880"/>
            <a:ext cx="25635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66800" y="3134097"/>
            <a:ext cx="737235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372222"/>
            <a:ext cx="229711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Входящий поток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5446181" y="3362697"/>
            <a:ext cx="299296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5 агентов в день на человека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66800" y="4219947"/>
            <a:ext cx="737235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458072"/>
            <a:ext cx="6261862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техническая проверка одного агента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7189440" y="4448547"/>
            <a:ext cx="1249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дня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66800" y="5014764"/>
            <a:ext cx="7372350" cy="19050"/>
          </a:xfrm>
          <a:prstGeom prst="rect">
            <a:avLst/>
          </a:prstGeom>
          <a:solidFill>
            <a:srgbClr val="E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5252889"/>
            <a:ext cx="4043988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 одного специалиста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319391" y="5243364"/>
            <a:ext cx="211975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0,3–0,5 агента в день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086850" y="2110680"/>
            <a:ext cx="8591550" cy="5760839"/>
          </a:xfrm>
          <a:prstGeom prst="roundRect">
            <a:avLst>
              <a:gd name="adj" fmla="val 5291"/>
            </a:avLst>
          </a:prstGeom>
          <a:solidFill>
            <a:srgbClr val="121213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3503786"/>
            <a:ext cx="8109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РАЗРЫВ МЕЖДУ СПРОСОМ И ЁМКОСТЬЮ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96450" y="3922886"/>
            <a:ext cx="810958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12750" b="1" spc="-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~10–15</a:t>
            </a:r>
            <a:pPr algn="l" indent="0" marL="0">
              <a:lnSpc>
                <a:spcPct val="86957"/>
              </a:lnSpc>
              <a:buNone/>
            </a:pPr>
            <a:r>
              <a:rPr lang="en-US" sz="12750" b="1" spc="-300" kern="0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2750" dirty="0"/>
          </a:p>
        </p:txBody>
      </p:sp>
      <p:sp>
        <p:nvSpPr>
          <p:cNvPr id="19" name="Text 17"/>
          <p:cNvSpPr/>
          <p:nvPr/>
        </p:nvSpPr>
        <p:spPr>
          <a:xfrm>
            <a:off x="9696450" y="5732636"/>
            <a:ext cx="7593521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при пиковом потоке 5 агентов в день на человека. Только техническая часть, без согласований.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609600" y="8138220"/>
            <a:ext cx="17068800" cy="1539180"/>
          </a:xfrm>
          <a:custGeom>
            <a:avLst/>
            <a:gdLst/>
            <a:ahLst/>
            <a:cxnLst/>
            <a:rect l="l" t="t" r="r" b="b"/>
            <a:pathLst>
              <a:path w="17068800" h="1539180">
                <a:moveTo>
                  <a:pt x="0" y="0"/>
                </a:moveTo>
                <a:lnTo>
                  <a:pt x="16840200" y="0"/>
                </a:lnTo>
                <a:arcTo hR="228600" wR="228600" stAng="16200000" swAng="5400000"/>
                <a:lnTo>
                  <a:pt x="17068800" y="1310580"/>
                </a:lnTo>
                <a:arcTo hR="228600" wR="228600" stAng="0" swAng="5400000"/>
                <a:lnTo>
                  <a:pt x="0" y="15391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8138220"/>
            <a:ext cx="76200" cy="1539180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8481120"/>
            <a:ext cx="1656054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изменений уходит в прод без полноценной проверки — не потому, что команда плохая, а потому что арифметика не сходится.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649441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Конкурентная раскладка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455390"/>
            <a:ext cx="4819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ПРОТИВ КОГО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38800" y="1455390"/>
            <a:ext cx="5448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ИХ СИЛЬНАЯ СТОРОНА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2300" y="1455390"/>
            <a:ext cx="70827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F3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НАШ АРГУМЕНТ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1798290"/>
            <a:ext cx="17068800" cy="1790700"/>
          </a:xfrm>
          <a:prstGeom prst="roundRect">
            <a:avLst>
              <a:gd name="adj" fmla="val 12766"/>
            </a:avLst>
          </a:prstGeom>
          <a:solidFill>
            <a:srgbClr val="121213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2507903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HiveTrace Red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638800" y="2360265"/>
            <a:ext cx="51015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атак, локальные модели, регуляторный маппинг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782300" y="2026890"/>
            <a:ext cx="6632067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FFFFF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Публично не подтверждено измерение долговременной памяти как состояния и cross-session эффекта. Наше отличие показываем на состоянии, а не словами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09600" y="3703290"/>
            <a:ext cx="17068800" cy="145732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246215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Сервисные аудиты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638800" y="4098578"/>
            <a:ext cx="51015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Понятный клиенту проект и отчёт, живая экспертиза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0782300" y="3931890"/>
            <a:ext cx="663206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400–800 тыс. ₽ и 2–6 недель за разовый результат. MOROK превращает повторяемую часть в цикл после каждого релиза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609600" y="5274915"/>
            <a:ext cx="17068800" cy="1358280"/>
          </a:xfrm>
          <a:prstGeom prst="roundRect">
            <a:avLst>
              <a:gd name="adj" fmla="val 1683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5768280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Крупные offensive-практики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638800" y="5787330"/>
            <a:ext cx="5448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Сильнейшая экспертиза и репутация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82300" y="5620643"/>
            <a:ext cx="66320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конкурируем с экспертом: даём ему кампании, evidence и retest. Мы инструмент в его руках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609600" y="6747495"/>
            <a:ext cx="17068800" cy="1358280"/>
          </a:xfrm>
          <a:prstGeom prst="roundRect">
            <a:avLst>
              <a:gd name="adj" fmla="val 1683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7240860"/>
            <a:ext cx="48196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Сильный внешний агент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638800" y="7259910"/>
            <a:ext cx="5448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исследования, гибкость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82300" y="7093223"/>
            <a:ext cx="663206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Недоступен для контура. Нет state oracle, воспроизводимости и артефакта для риск-комитета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09600" y="8220075"/>
            <a:ext cx="17068800" cy="145732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" y="8577263"/>
            <a:ext cx="451294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OSS: Promptfoo, PyRIT, Giskard, Garak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5638800" y="8782050"/>
            <a:ext cx="5448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Бесплатны, зрелые компоненты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0782300" y="8448675"/>
            <a:ext cx="663206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Compose, not replace: берём их модули, своими остаются адаптеры цели, state oracle, memory lifecycle и evidence-отчёт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1221553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 одной ручной проверки агента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493490"/>
            <a:ext cx="8439150" cy="6513314"/>
          </a:xfrm>
          <a:prstGeom prst="roundRect">
            <a:avLst>
              <a:gd name="adj" fmla="val 468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27636"/>
            <a:ext cx="8109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ПОДРЯДЧИК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246736"/>
            <a:ext cx="810958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92"/>
              </a:lnSpc>
              <a:buNone/>
            </a:pPr>
            <a:r>
              <a:rPr lang="en-US" sz="69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80–360</a:t>
            </a:r>
            <a:pPr algn="l" indent="0" marL="0">
              <a:lnSpc>
                <a:spcPct val="86792"/>
              </a:lnSpc>
              <a:buNone/>
            </a:pPr>
            <a:r>
              <a:rPr lang="en-US" sz="330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тыс. ₽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143000" y="5313536"/>
            <a:ext cx="8109585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9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 дня × 40–120 тыс. ₽ за специалисто-день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39250" y="1493490"/>
            <a:ext cx="8439150" cy="6513314"/>
          </a:xfrm>
          <a:prstGeom prst="roundRect">
            <a:avLst>
              <a:gd name="adj" fmla="val 4680"/>
            </a:avLst>
          </a:prstGeom>
          <a:solidFill>
            <a:srgbClr val="121213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648149"/>
            <a:ext cx="81095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13" kern="0" dirty="0">
                <a:solidFill>
                  <a:srgbClr val="E9E9FA">
                    <a:alpha val="3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ШТАТНАЯ КОМАНДА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72650" y="4067249"/>
            <a:ext cx="810958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92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36–66</a:t>
            </a:r>
            <a:pPr algn="l" indent="0" marL="0">
              <a:lnSpc>
                <a:spcPct val="86792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тыс. ₽</a:t>
            </a:r>
            <a:endParaRPr lang="en-US" sz="6900" dirty="0"/>
          </a:p>
        </p:txBody>
      </p:sp>
      <p:sp>
        <p:nvSpPr>
          <p:cNvPr id="11" name="Text 9"/>
          <p:cNvSpPr/>
          <p:nvPr/>
        </p:nvSpPr>
        <p:spPr>
          <a:xfrm>
            <a:off x="9772650" y="5134049"/>
            <a:ext cx="759352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797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 дня × 18–22 тыс. ₽/день полной стоимости специалиста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09600" y="8273504"/>
            <a:ext cx="8401050" cy="1403896"/>
          </a:xfrm>
          <a:prstGeom prst="roundRect">
            <a:avLst>
              <a:gd name="adj" fmla="val 16283"/>
            </a:avLst>
          </a:prstGeom>
          <a:solidFill>
            <a:srgbClr val="ED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8616404"/>
            <a:ext cx="771125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Штатный senior — 4,5–5,5 млн ₽/год полной стоимости. Оценка, не оферта.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01150" y="8273504"/>
            <a:ext cx="8477250" cy="1403896"/>
          </a:xfrm>
          <a:custGeom>
            <a:avLst/>
            <a:gdLst/>
            <a:ahLst/>
            <a:cxnLst/>
            <a:rect l="l" t="t" r="r" b="b"/>
            <a:pathLst>
              <a:path w="8477250" h="1403896">
                <a:moveTo>
                  <a:pt x="0" y="0"/>
                </a:moveTo>
                <a:lnTo>
                  <a:pt x="8248650" y="0"/>
                </a:lnTo>
                <a:arcTo hR="228600" wR="228600" stAng="16200000" swAng="5400000"/>
                <a:lnTo>
                  <a:pt x="8477250" y="1175296"/>
                </a:lnTo>
                <a:arcTo hR="228600" wR="228600" stAng="0" swAng="5400000"/>
                <a:lnTo>
                  <a:pt x="0" y="14038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201150" y="8273504"/>
            <a:ext cx="76200" cy="1403896"/>
          </a:xfrm>
          <a:prstGeom prst="rect">
            <a:avLst/>
          </a:prstGeom>
          <a:solidFill>
            <a:srgbClr val="EF3124"/>
          </a:solidFill>
          <a:ln/>
        </p:spPr>
      </p:sp>
      <p:sp>
        <p:nvSpPr>
          <p:cNvPr id="16" name="Text 14"/>
          <p:cNvSpPr/>
          <p:nvPr/>
        </p:nvSpPr>
        <p:spPr>
          <a:xfrm>
            <a:off x="9734550" y="8616404"/>
            <a:ext cx="771125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база для расчёта экономии на потоке, а не цена MOROK. Свою себестоимость меряем после пилота.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09600"/>
            <a:ext cx="6909666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40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Линейка модулей MOROK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17137335" y="998190"/>
            <a:ext cx="3886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spc="150" kern="0" dirty="0">
                <a:solidFill>
                  <a:srgbClr val="05081D">
                    <a:alpha val="3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9600" y="1493490"/>
            <a:ext cx="3688110" cy="676089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1912590"/>
            <a:ext cx="313490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28700" y="2407890"/>
            <a:ext cx="2935407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и CLI: конфигурация цели, preflight, запуск кампании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28700" y="6532438"/>
            <a:ext cx="2849910" cy="1302841"/>
          </a:xfrm>
          <a:prstGeom prst="roundRect">
            <a:avLst>
              <a:gd name="adj" fmla="val 10235"/>
            </a:avLst>
          </a:prstGeom>
          <a:solidFill>
            <a:srgbClr val="EDECEA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6703888"/>
            <a:ext cx="2554407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agentic_redteam · config/target.yaml · doctor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88210" y="1493490"/>
            <a:ext cx="3154635" cy="6760890"/>
          </a:xfrm>
          <a:prstGeom prst="roundRect">
            <a:avLst>
              <a:gd name="adj" fmla="val 9662"/>
            </a:avLst>
          </a:prstGeom>
          <a:solidFill>
            <a:srgbClr val="121213"/>
          </a:solidFill>
          <a:ln/>
        </p:spPr>
      </p:sp>
      <p:sp>
        <p:nvSpPr>
          <p:cNvPr id="10" name="Text 8"/>
          <p:cNvSpPr/>
          <p:nvPr/>
        </p:nvSpPr>
        <p:spPr>
          <a:xfrm>
            <a:off x="4907310" y="1912590"/>
            <a:ext cx="25480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907310" y="2407890"/>
            <a:ext cx="239263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и адаптация сценариев атак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907310" y="6532438"/>
            <a:ext cx="2316435" cy="1302841"/>
          </a:xfrm>
          <a:prstGeom prst="roundRect">
            <a:avLst>
              <a:gd name="adj" fmla="val 1023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97810" y="6703888"/>
            <a:ext cx="201163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layer · adaptive BAC generator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33345" y="1493490"/>
            <a:ext cx="3154710" cy="6760890"/>
          </a:xfrm>
          <a:prstGeom prst="roundRect">
            <a:avLst>
              <a:gd name="adj" fmla="val 9662"/>
            </a:avLst>
          </a:prstGeom>
          <a:solidFill>
            <a:srgbClr val="121213"/>
          </a:solidFill>
          <a:ln/>
        </p:spPr>
      </p:sp>
      <p:sp>
        <p:nvSpPr>
          <p:cNvPr id="15" name="Text 13"/>
          <p:cNvSpPr/>
          <p:nvPr/>
        </p:nvSpPr>
        <p:spPr>
          <a:xfrm>
            <a:off x="8252445" y="1912590"/>
            <a:ext cx="25481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252445" y="2407890"/>
            <a:ext cx="2392710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oracle: снимки памяти, журнал tool calls, assertions, ASR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252445" y="6532438"/>
            <a:ext cx="2316510" cy="1302841"/>
          </a:xfrm>
          <a:prstGeom prst="roundRect">
            <a:avLst>
              <a:gd name="adj" fmla="val 1023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42945" y="6703888"/>
            <a:ext cx="201171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Tracer · Deterministic Scorer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178555" y="1493490"/>
            <a:ext cx="3154635" cy="6760890"/>
          </a:xfrm>
          <a:prstGeom prst="roundRect">
            <a:avLst>
              <a:gd name="adj" fmla="val 9662"/>
            </a:avLst>
          </a:prstGeom>
          <a:solidFill>
            <a:srgbClr val="121213"/>
          </a:solidFill>
          <a:ln/>
        </p:spPr>
      </p:sp>
      <p:sp>
        <p:nvSpPr>
          <p:cNvPr id="20" name="Text 18"/>
          <p:cNvSpPr/>
          <p:nvPr/>
        </p:nvSpPr>
        <p:spPr>
          <a:xfrm>
            <a:off x="11597655" y="1912590"/>
            <a:ext cx="25480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597655" y="2407890"/>
            <a:ext cx="239263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EEEEF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Регрессия: находка → сценарий → повторный прогон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597655" y="6532438"/>
            <a:ext cx="2316435" cy="1302841"/>
          </a:xfrm>
          <a:prstGeom prst="roundRect">
            <a:avLst>
              <a:gd name="adj" fmla="val 10235"/>
            </a:avLst>
          </a:prstGeom>
          <a:solidFill>
            <a:srgbClr val="D6D6E5">
              <a:alpha val="7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788155" y="6703888"/>
            <a:ext cx="201163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FFFFFF">
                    <a:alpha val="94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YAML-сценарии · run-id · артефакты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523690" y="1493490"/>
            <a:ext cx="3154710" cy="6760890"/>
          </a:xfrm>
          <a:prstGeom prst="roundRect">
            <a:avLst>
              <a:gd name="adj" fmla="val 9662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942790" y="1912590"/>
            <a:ext cx="254816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42790" y="2407890"/>
            <a:ext cx="2392710" cy="1771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040413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Учебный намеренно уязвимый полигон для демо и обучения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4942790" y="7172399"/>
            <a:ext cx="2316510" cy="662880"/>
          </a:xfrm>
          <a:prstGeom prst="roundRect">
            <a:avLst>
              <a:gd name="adj" fmla="val 20117"/>
            </a:avLst>
          </a:prstGeom>
          <a:solidFill>
            <a:srgbClr val="EDECEA"/>
          </a:solidFill>
          <a:ln/>
        </p:spPr>
      </p:sp>
      <p:sp>
        <p:nvSpPr>
          <p:cNvPr id="28" name="Text 26"/>
          <p:cNvSpPr/>
          <p:nvPr/>
        </p:nvSpPr>
        <p:spPr>
          <a:xfrm>
            <a:off x="15133290" y="7343849"/>
            <a:ext cx="201171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1800" dirty="0">
                <a:solidFill>
                  <a:srgbClr val="1212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stand/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9600" y="8521080"/>
            <a:ext cx="17068800" cy="1156320"/>
          </a:xfrm>
          <a:prstGeom prst="roundRect">
            <a:avLst>
              <a:gd name="adj" fmla="val 1977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" y="8863980"/>
            <a:ext cx="17769840" cy="5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63"/>
              </a:lnSpc>
              <a:buNone/>
            </a:pPr>
            <a:r>
              <a:rPr lang="en-US" sz="28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 атакует. </a:t>
            </a:r>
            <a:pPr algn="l" indent="0" marL="0">
              <a:lnSpc>
                <a:spcPct val="113563"/>
              </a:lnSpc>
              <a:buNone/>
            </a:pPr>
            <a:r>
              <a:rPr lang="en-US" sz="2850" b="1" dirty="0">
                <a:solidFill>
                  <a:srgbClr val="EF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доказывает. </a:t>
            </a:r>
            <a:pPr algn="l" indent="0" marL="0">
              <a:lnSpc>
                <a:spcPct val="113563"/>
              </a:lnSpc>
              <a:buNone/>
            </a:pPr>
            <a:r>
              <a:rPr lang="en-US" sz="2850" b="1" dirty="0">
                <a:solidFill>
                  <a:srgbClr val="1212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не даёт забыть.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2026-09-04T06:12:19Z</dcterms:created>
  <dcterms:modified xsi:type="dcterms:W3CDTF">2026-09-04T06:12:19Z</dcterms:modified>
</cp:coreProperties>
</file>