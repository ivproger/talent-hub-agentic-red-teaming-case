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MOROK — инструмент для MLSecOps. Он получает описание агентной системы, проводит многошаговые атаки на её память и интеграции, а затем подтверждает их эффект по состоянию системы. На выходе команда получает не эффектный скриншот ответа, а доказательство и тест, который можно повторить после изменения агента.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Чат проверяют по ответу. Агент может сохранить инструкцию в долгую память, выбрать инструмент или передать ему неверный аргумент. Внешне первая сессия выглядит безобидной, а ущерб появится позже — в работе другого пользователя. Поэтому объект проверки — инженерная система целиком, а не отдельная LLM.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Первый клин — не «все компании с ИИ». Это регулируемые организации: банки, НФО, КИИ. Покупатель отвечает за риск, а ежедневный пользователь — MLSecOps-команда. В интервью Альфа-Банка мы услышали важный масштаб потока: на одного из трёх специалистов может приходиться до пяти агентов в день. Полное ручное исследование одного агента нарушает SLA, а передавать контекст и трассы наружу нельзя.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Мы не говорим, что ручной аудит или сильный агент бесполезны. Это два реальных способа решать проблему. Но для банка внешний SaaS не подходит, а самостоятельная работа агента не создаёт воспроизводимого контура: кто-то должен связать сценарий, identities и sessions, доказательство по состоянию, отчёт и повторный прогон. Обычная проверка промпта тем более не видит жизненный цикл памяти.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white-box или gray-box режиме команда агента даёт архитектуру, API-контракт, роли и список инструментов. Дальше продукт строит кампанию, проводит её от разных пользователей и сессий, наблюдает состояние и фиксирует только подтверждённые эффекты. Итог — evidence-отчёт, который полезен не только security-команде, но и владельцу агента, и сценарий для повторного запуска.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Проблема есть у трёх сегментов, но покупать они будут разное. Банку нужен внутренний контур; кибербез-компании — инструмент, который увеличит их пропускную способность и позволит продавать retest; независимой продуктовой команде — управляемая проверка с экспертным triage. Мы не будем делать вид, что уже нашли идеальный рынок. Первый сегмент выбираем после пилотов.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MVP пользователь описывает или подключает тестовый агент, проверяет контур, выбирает сценарий и роли. После кампании он видит ASR и evidence, а сценарий остаётся для повторного запуска. Сейчас покажем это на BAC: доказательством будет не ответ модели, а фактический аргумент MCP-инструмента.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Атакующий — пользователь 1001, цель — синтетические данные 1002. Мы не доверяем тексту агента: State Tracer читает фактический журнал вызова. В завершённом прогоне четыре разных формулировки привели к одному измеримому эффекту — инструмент получил аргумент 1002. Это демонстрирует работу evidence loop на намеренно уязвимом стенде; это не заявление о защищённости или уязвимости реального банка.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не концептуальная картинка, а текущий рабочий pipeline. На входе — описание цели и конфигурация. doctor проверяет контур. Затем берётся YAML-сценарий или adaptive BAC-генерация, Runner выполняет шаги от разных пользователей и сессий, а State Tracer собирает память и журнал tool calls. Assertions рассчитывают finding и ASR, после чего все evidence сохраняются в отдельный run. CLI и UI обращаются к одному pipeline; трассировка Langfuse полезна для исследования, но verdict от неё не зависит.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ASR сам по себе ничего не значит, пока не определено, что такое успех. Для BAC это несовпадение пользователя и аргумента инструмента. Для memory poisoning нужна последовательность проверок: запись попала в память, сохранилась, извлеклась в другой сессии и повлияла на действие. В исходной продуктовой гипотезе LLM-судья был самым рискованным допущением. В текущем MVP мы сознательно используем детерминированные assertions для факта, а LLM оставляем на стороне генерации и отчёта.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Наш текущий подтверждённый результат — четыре из четырёх BAC-атак на намеренно уязвимом учебном стенде. Во всех попытках пользователь 1001 добился вызова инструмента с 1002. Это доказывает корректность нашего measurement loop на конкретном кейсе. Не называем это traction и не обобщаем на другие модели, банки или классы атак. Следующее доказательство — memory lifecycle и сравнение с защищённым режимом.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1 дал нам не право заявить успех, а правильные вопросы. Мы сформулировали пять продуктовых гипотез: скорость и покрытие, ценность архитектурного контекста, доверие к evidence, регрессия и выбор сегмента. Три интервью подтвердили направление: приоритетны BAC, память, наблюдаемый эффект и контур. Следующий шаг — превратить это в измерения времени, доверия к finding и willingness to pay.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Сейчас мы знаем цену проблемы, а не цену нашего продукта. Агентный аудит на рынке может стоить от 400 до 800 тысяч рублей и длиться от двух до шести недель; первичная оценка — порядка 300–500 тысяч. Сильный агент дешевле, но не заменяет контурный воспроизводимый процесс в банке. Наша будущая коммерческая единица — одна агентная система с согласованным scope, кампанией, evidence-отчётом и retest. До пилота нам нужно измерить себестоимость кампании и готовность платить, поэтому цену продукта сейчас не придумываем.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Мы использовали ИИ как исследовательский и инженерный ускоритель: для поиска и анализа рынка, подготовки и расшифровки интервью, работы с репозиторием. Но источники, продуктовые решения и claims проверяются людьми. В самом продукте действует та же граница: LLM помогает расширять пространство атак, код и state oracle подтверждают факт, а security-эксперт решает, что этот факт значит для бизнеса.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Нам нужен design partner: конкретный агент, несколько недопустимых effects и возможность увидеть проверяемый след. В ответ мы проверим, какой state adapter нужен, и покажем evidence, пригодный для исправления и retest. Ближайший технический результат — полная цепочка memory lifecycle между сессиями. Спасибо.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Дальше — резервные слайды для вопросов.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Резерв: арифметика потока и ёмкости. До 5 агентов в день на человека против ёмкости 0,3–0,5 агента в день. Разрыв примерно на порядок. Это оценка на пиковом потоке, не статистика рынка.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Резерв: конкурентная раскладка. Против HiveTrace Red наш аргумент — измерение состояния и cross-session эффекта. Против сервисных аудитов — цикл вместо разового проекта. С крупными offensive-практиками не конкурируем, даём им инструмент. С OSS — модель compose, not replace.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Резерв: себестоимость ручной проверки одного агента. Подрядчик — 80–360 тысяч, штатная команда — 36–66 тысяч. Это база для расчёта экономии на потоке, а не наша цена.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Резерв: линейка модулей. Forge атакует. Proof доказывает. Loop не даёт забыть. Каждый модуль соответствует реальному компоненту текущего pipeline.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609600"/>
            <a:ext cx="17068800" cy="7284839"/>
          </a:xfrm>
          <a:prstGeom prst="roundRect">
            <a:avLst>
              <a:gd name="adj" fmla="val 4184"/>
            </a:avLst>
          </a:prstGeom>
          <a:solidFill>
            <a:srgbClr val="12121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71600" y="1371600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52650" y="1447800"/>
            <a:ext cx="2141093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810"/>
              </a:lnSpc>
              <a:buNone/>
            </a:pPr>
            <a:r>
              <a:rPr lang="en-US" sz="3300" b="1" spc="525" kern="0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MOROK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14782800" y="1371600"/>
            <a:ext cx="21336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4286"/>
              </a:lnSpc>
              <a:buNone/>
            </a:pPr>
            <a:r>
              <a:rPr lang="en-US" sz="1800" dirty="0">
                <a:solidFill>
                  <a:srgbClr val="E9E9FA">
                    <a:alpha val="37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Защита продукта 07.09.2026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371600" y="3811786"/>
            <a:ext cx="1709928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spc="150" kern="0" dirty="0">
                <a:solidFill>
                  <a:srgbClr val="EF31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ON-PREM ДВИЖОК AGENTIC RED TEAMING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371600" y="4345186"/>
            <a:ext cx="14519910" cy="28253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201"/>
              </a:lnSpc>
              <a:buNone/>
            </a:pPr>
            <a:r>
              <a:rPr lang="en-US" sz="4650" b="1" dirty="0">
                <a:solidFill>
                  <a:srgbClr val="FFFFFF">
                    <a:alpha val="94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По архитектуре агента запускает многошаговые атаки на память и интеграции, доказывает их влияние по состоянию системы и сохраняет регрессионный тест.</a:t>
            </a:r>
            <a:endParaRPr lang="en-US" sz="4650" dirty="0"/>
          </a:p>
        </p:txBody>
      </p:sp>
      <p:sp>
        <p:nvSpPr>
          <p:cNvPr id="8" name="Shape 5"/>
          <p:cNvSpPr/>
          <p:nvPr/>
        </p:nvSpPr>
        <p:spPr>
          <a:xfrm>
            <a:off x="609600" y="8123039"/>
            <a:ext cx="10947425" cy="1554361"/>
          </a:xfrm>
          <a:prstGeom prst="roundRect">
            <a:avLst>
              <a:gd name="adj" fmla="val 14707"/>
            </a:avLst>
          </a:prstGeom>
          <a:solidFill>
            <a:srgbClr val="FFFFFF"/>
          </a:solidFill>
          <a:ln/>
        </p:spPr>
      </p:sp>
      <p:sp>
        <p:nvSpPr>
          <p:cNvPr id="9" name="Text 6"/>
          <p:cNvSpPr/>
          <p:nvPr/>
        </p:nvSpPr>
        <p:spPr>
          <a:xfrm>
            <a:off x="1066800" y="8513564"/>
            <a:ext cx="10334016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194"/>
              </a:lnSpc>
              <a:buNone/>
            </a:pPr>
            <a:r>
              <a:rPr lang="en-US" sz="2100" dirty="0">
                <a:solidFill>
                  <a:srgbClr val="040413">
                    <a:alpha val="55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Для банков и других регулируемых организаций, где данные, контекст и трассы нельзя передавать во внешний SaaS.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11747525" y="8123039"/>
            <a:ext cx="5930875" cy="1554361"/>
          </a:xfrm>
          <a:prstGeom prst="roundRect">
            <a:avLst>
              <a:gd name="adj" fmla="val 14707"/>
            </a:avLst>
          </a:prstGeom>
          <a:solidFill>
            <a:srgbClr val="FFFFFF"/>
          </a:solidFill>
          <a:ln/>
        </p:spPr>
      </p:sp>
      <p:sp>
        <p:nvSpPr>
          <p:cNvPr id="11" name="Text 8"/>
          <p:cNvSpPr/>
          <p:nvPr/>
        </p:nvSpPr>
        <p:spPr>
          <a:xfrm>
            <a:off x="12204725" y="8504039"/>
            <a:ext cx="2361828" cy="830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52"/>
              </a:lnSpc>
              <a:buNone/>
            </a:pPr>
            <a:r>
              <a:rPr lang="en-US" sz="2400" b="1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Агент поверит. Мы докажем.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609600"/>
            <a:ext cx="13735050" cy="1272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692"/>
              </a:lnSpc>
              <a:buNone/>
            </a:pPr>
            <a:r>
              <a:rPr lang="en-US" sz="4050" b="1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Проверка «запрос → ответ» не видит главную часть агентного риска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17137335" y="1615380"/>
            <a:ext cx="38866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spc="150" kern="0" dirty="0">
                <a:solidFill>
                  <a:srgbClr val="05081D">
                    <a:alpha val="3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09600" y="2110680"/>
            <a:ext cx="4914900" cy="5631359"/>
          </a:xfrm>
          <a:prstGeom prst="roundRect">
            <a:avLst>
              <a:gd name="adj" fmla="val 6202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066800" y="2567880"/>
            <a:ext cx="44005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dirty="0">
                <a:solidFill>
                  <a:srgbClr val="05081D">
                    <a:alpha val="3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Для чата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66800" y="3063180"/>
            <a:ext cx="4000500" cy="685800"/>
          </a:xfrm>
          <a:prstGeom prst="roundRect">
            <a:avLst>
              <a:gd name="adj" fmla="val 22222"/>
            </a:avLst>
          </a:prstGeom>
          <a:solidFill>
            <a:srgbClr val="EDECEA"/>
          </a:solidFill>
          <a:ln/>
        </p:spPr>
      </p:sp>
      <p:sp>
        <p:nvSpPr>
          <p:cNvPr id="7" name="Text 5"/>
          <p:cNvSpPr/>
          <p:nvPr/>
        </p:nvSpPr>
        <p:spPr>
          <a:xfrm>
            <a:off x="1333500" y="3272730"/>
            <a:ext cx="358711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676"/>
              </a:lnSpc>
              <a:buNone/>
            </a:pPr>
            <a:r>
              <a:rPr lang="en-US" sz="2100" dirty="0">
                <a:solidFill>
                  <a:srgbClr val="12121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запрос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1333500" y="3882330"/>
            <a:ext cx="19050" cy="228600"/>
          </a:xfrm>
          <a:prstGeom prst="rect">
            <a:avLst/>
          </a:prstGeom>
          <a:solidFill>
            <a:srgbClr val="D2D3D9"/>
          </a:solidFill>
          <a:ln/>
        </p:spPr>
      </p:sp>
      <p:sp>
        <p:nvSpPr>
          <p:cNvPr id="9" name="Shape 7"/>
          <p:cNvSpPr/>
          <p:nvPr/>
        </p:nvSpPr>
        <p:spPr>
          <a:xfrm>
            <a:off x="1066800" y="4244280"/>
            <a:ext cx="4000500" cy="685800"/>
          </a:xfrm>
          <a:prstGeom prst="roundRect">
            <a:avLst>
              <a:gd name="adj" fmla="val 22222"/>
            </a:avLst>
          </a:prstGeom>
          <a:solidFill>
            <a:srgbClr val="EDECEA"/>
          </a:solidFill>
          <a:ln/>
        </p:spPr>
      </p:sp>
      <p:sp>
        <p:nvSpPr>
          <p:cNvPr id="10" name="Text 8"/>
          <p:cNvSpPr/>
          <p:nvPr/>
        </p:nvSpPr>
        <p:spPr>
          <a:xfrm>
            <a:off x="1333500" y="4453830"/>
            <a:ext cx="358711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676"/>
              </a:lnSpc>
              <a:buNone/>
            </a:pPr>
            <a:r>
              <a:rPr lang="en-US" sz="2100" dirty="0">
                <a:solidFill>
                  <a:srgbClr val="12121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ответ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066800" y="6644878"/>
            <a:ext cx="4120515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862"/>
              </a:lnSpc>
              <a:buNone/>
            </a:pPr>
            <a:r>
              <a:rPr lang="en-US" sz="1800" dirty="0">
                <a:solidFill>
                  <a:srgbClr val="05081D">
                    <a:alpha val="38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Две точки. Ущерб виден сразу или не виден вовсе.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715000" y="2110680"/>
            <a:ext cx="11963400" cy="5631359"/>
          </a:xfrm>
          <a:prstGeom prst="roundRect">
            <a:avLst>
              <a:gd name="adj" fmla="val 5413"/>
            </a:avLst>
          </a:prstGeom>
          <a:solidFill>
            <a:srgbClr val="121213"/>
          </a:solidFill>
          <a:ln/>
        </p:spPr>
      </p:sp>
      <p:sp>
        <p:nvSpPr>
          <p:cNvPr id="13" name="Text 11"/>
          <p:cNvSpPr/>
          <p:nvPr/>
        </p:nvSpPr>
        <p:spPr>
          <a:xfrm>
            <a:off x="6172200" y="2567880"/>
            <a:ext cx="121539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dirty="0">
                <a:solidFill>
                  <a:srgbClr val="E9E9FA">
                    <a:alpha val="37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Для агента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172200" y="3063180"/>
            <a:ext cx="1127820" cy="628650"/>
          </a:xfrm>
          <a:prstGeom prst="roundRect">
            <a:avLst>
              <a:gd name="adj" fmla="val 50000"/>
            </a:avLst>
          </a:prstGeom>
          <a:solidFill>
            <a:srgbClr val="D6D6E5">
              <a:alpha val="7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438900" y="3253680"/>
            <a:ext cx="67062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362"/>
              </a:lnSpc>
              <a:buNone/>
            </a:pPr>
            <a:r>
              <a:rPr lang="en-US" sz="1950" dirty="0">
                <a:solidFill>
                  <a:srgbClr val="FFFFFF">
                    <a:alpha val="94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вход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7414320" y="3063180"/>
            <a:ext cx="1722165" cy="628650"/>
          </a:xfrm>
          <a:prstGeom prst="roundRect">
            <a:avLst>
              <a:gd name="adj" fmla="val 50000"/>
            </a:avLst>
          </a:prstGeom>
          <a:solidFill>
            <a:srgbClr val="D6D6E5">
              <a:alpha val="7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7681020" y="3253680"/>
            <a:ext cx="126496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362"/>
              </a:lnSpc>
              <a:buNone/>
            </a:pPr>
            <a:r>
              <a:rPr lang="en-US" sz="1950" dirty="0">
                <a:solidFill>
                  <a:srgbClr val="FFFFFF">
                    <a:alpha val="94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контекст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9250784" y="3063180"/>
            <a:ext cx="1424955" cy="628650"/>
          </a:xfrm>
          <a:prstGeom prst="roundRect">
            <a:avLst>
              <a:gd name="adj" fmla="val 50000"/>
            </a:avLst>
          </a:prstGeom>
          <a:solidFill>
            <a:srgbClr val="EF3124"/>
          </a:solidFill>
          <a:ln/>
        </p:spPr>
      </p:sp>
      <p:sp>
        <p:nvSpPr>
          <p:cNvPr id="19" name="Text 17"/>
          <p:cNvSpPr/>
          <p:nvPr/>
        </p:nvSpPr>
        <p:spPr>
          <a:xfrm>
            <a:off x="9517484" y="3253680"/>
            <a:ext cx="96775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362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память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10790039" y="3063180"/>
            <a:ext cx="2316510" cy="628650"/>
          </a:xfrm>
          <a:prstGeom prst="roundRect">
            <a:avLst>
              <a:gd name="adj" fmla="val 50000"/>
            </a:avLst>
          </a:prstGeom>
          <a:solidFill>
            <a:srgbClr val="D6D6E5">
              <a:alpha val="7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1056739" y="3253680"/>
            <a:ext cx="185931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362"/>
              </a:lnSpc>
              <a:buNone/>
            </a:pPr>
            <a:r>
              <a:rPr lang="en-US" sz="1950" dirty="0">
                <a:solidFill>
                  <a:srgbClr val="FFFFFF">
                    <a:alpha val="94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планирование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13220849" y="3063180"/>
            <a:ext cx="2019300" cy="628650"/>
          </a:xfrm>
          <a:prstGeom prst="roundRect">
            <a:avLst>
              <a:gd name="adj" fmla="val 50000"/>
            </a:avLst>
          </a:prstGeom>
          <a:solidFill>
            <a:srgbClr val="D6D6E5">
              <a:alpha val="7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3487549" y="3253680"/>
            <a:ext cx="15621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362"/>
              </a:lnSpc>
              <a:buNone/>
            </a:pPr>
            <a:r>
              <a:rPr lang="en-US" sz="1950" dirty="0">
                <a:solidFill>
                  <a:srgbClr val="FFFFFF">
                    <a:alpha val="94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инструмент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6172200" y="3806130"/>
            <a:ext cx="1870695" cy="628650"/>
          </a:xfrm>
          <a:prstGeom prst="roundRect">
            <a:avLst>
              <a:gd name="adj" fmla="val 50000"/>
            </a:avLst>
          </a:prstGeom>
          <a:solidFill>
            <a:srgbClr val="EF3124"/>
          </a:solidFill>
          <a:ln/>
        </p:spPr>
      </p:sp>
      <p:sp>
        <p:nvSpPr>
          <p:cNvPr id="25" name="Text 23"/>
          <p:cNvSpPr/>
          <p:nvPr/>
        </p:nvSpPr>
        <p:spPr>
          <a:xfrm>
            <a:off x="6438900" y="3996630"/>
            <a:ext cx="141349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362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аргументы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8157195" y="3806130"/>
            <a:ext cx="1870695" cy="628650"/>
          </a:xfrm>
          <a:prstGeom prst="roundRect">
            <a:avLst>
              <a:gd name="adj" fmla="val 50000"/>
            </a:avLst>
          </a:prstGeom>
          <a:solidFill>
            <a:srgbClr val="D6D6E5">
              <a:alpha val="7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8423895" y="3996630"/>
            <a:ext cx="141349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362"/>
              </a:lnSpc>
              <a:buNone/>
            </a:pPr>
            <a:r>
              <a:rPr lang="en-US" sz="1950" dirty="0">
                <a:solidFill>
                  <a:srgbClr val="FFFFFF">
                    <a:alpha val="94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результат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10142190" y="3806130"/>
            <a:ext cx="3356595" cy="628650"/>
          </a:xfrm>
          <a:prstGeom prst="roundRect">
            <a:avLst>
              <a:gd name="adj" fmla="val 50000"/>
            </a:avLst>
          </a:prstGeom>
          <a:solidFill>
            <a:srgbClr val="D6D6E5">
              <a:alpha val="7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10408890" y="3996630"/>
            <a:ext cx="292389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362"/>
              </a:lnSpc>
              <a:buNone/>
            </a:pPr>
            <a:r>
              <a:rPr lang="en-US" sz="1950" dirty="0">
                <a:solidFill>
                  <a:srgbClr val="FFFFFF">
                    <a:alpha val="94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изменение состояния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13613085" y="3806130"/>
            <a:ext cx="2910855" cy="628650"/>
          </a:xfrm>
          <a:prstGeom prst="roundRect">
            <a:avLst>
              <a:gd name="adj" fmla="val 50000"/>
            </a:avLst>
          </a:prstGeom>
          <a:solidFill>
            <a:srgbClr val="EF3124"/>
          </a:solidFill>
          <a:ln/>
        </p:spPr>
      </p:sp>
      <p:sp>
        <p:nvSpPr>
          <p:cNvPr id="31" name="Text 29"/>
          <p:cNvSpPr/>
          <p:nvPr/>
        </p:nvSpPr>
        <p:spPr>
          <a:xfrm>
            <a:off x="13879785" y="3996630"/>
            <a:ext cx="246478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362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следующая сессия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6172200" y="6566743"/>
            <a:ext cx="11380470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613"/>
              </a:lnSpc>
              <a:buNone/>
            </a:pPr>
            <a:r>
              <a:rPr lang="en-US" sz="1950" dirty="0">
                <a:solidFill>
                  <a:srgbClr val="EEEEFB">
                    <a:alpha val="55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Три красные точки — места, где морок остаётся в системе после того, как диалог закончился.</a:t>
            </a:r>
            <a:endParaRPr lang="en-US" sz="1950" dirty="0"/>
          </a:p>
        </p:txBody>
      </p:sp>
      <p:sp>
        <p:nvSpPr>
          <p:cNvPr id="33" name="Shape 31"/>
          <p:cNvSpPr/>
          <p:nvPr/>
        </p:nvSpPr>
        <p:spPr>
          <a:xfrm>
            <a:off x="609600" y="8008739"/>
            <a:ext cx="17068800" cy="1668661"/>
          </a:xfrm>
          <a:prstGeom prst="roundRect">
            <a:avLst>
              <a:gd name="adj" fmla="val 13700"/>
            </a:avLst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1143000" y="8389739"/>
            <a:ext cx="15893415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98"/>
              </a:lnSpc>
              <a:buNone/>
            </a:pPr>
            <a:r>
              <a:rPr lang="en-US" sz="2550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Вредоносный ввод может сохраниться сегодня, а позднее привести к чтению чужих данных или действию в другой сессии и для другого пользователя.</a:t>
            </a:r>
            <a:endParaRPr lang="en-US" sz="2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609600"/>
            <a:ext cx="146685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spc="150" kern="0" dirty="0">
                <a:solidFill>
                  <a:srgbClr val="EF31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ПЕРВИЧНЫЙ СЕГМЕНТ · ГИПОТЕЗА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38200" y="971550"/>
            <a:ext cx="13735050" cy="1272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692"/>
              </a:lnSpc>
              <a:buNone/>
            </a:pPr>
            <a:r>
              <a:rPr lang="en-US" sz="4050" b="1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Банк, НФО, КИИ: организации, в которых проверка не успевает за изменениями</a:t>
            </a:r>
            <a:endParaRPr lang="en-US" sz="4050" dirty="0"/>
          </a:p>
        </p:txBody>
      </p:sp>
      <p:sp>
        <p:nvSpPr>
          <p:cNvPr id="4" name="Text 2"/>
          <p:cNvSpPr/>
          <p:nvPr/>
        </p:nvSpPr>
        <p:spPr>
          <a:xfrm>
            <a:off x="17137335" y="1977330"/>
            <a:ext cx="38866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spc="150" kern="0" dirty="0">
                <a:solidFill>
                  <a:srgbClr val="05081D">
                    <a:alpha val="3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09600" y="2472630"/>
            <a:ext cx="5562600" cy="5558879"/>
          </a:xfrm>
          <a:prstGeom prst="roundRect">
            <a:avLst>
              <a:gd name="adj" fmla="val 5483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1066800" y="2929830"/>
            <a:ext cx="511302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dirty="0">
                <a:solidFill>
                  <a:srgbClr val="EF31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Покупатель / ЛПР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66800" y="3348930"/>
            <a:ext cx="4787646" cy="13009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805"/>
              </a:lnSpc>
              <a:buNone/>
            </a:pPr>
            <a:r>
              <a:rPr lang="en-US" sz="2550" b="1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CISO, руководитель ДКБ или риск-функции; CTO / CIO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1066800" y="4802312"/>
            <a:ext cx="4648200" cy="19050"/>
          </a:xfrm>
          <a:prstGeom prst="rect">
            <a:avLst/>
          </a:prstGeom>
          <a:solidFill>
            <a:srgbClr val="EDECEA"/>
          </a:solidFill>
          <a:ln/>
        </p:spPr>
      </p:sp>
      <p:sp>
        <p:nvSpPr>
          <p:cNvPr id="9" name="Text 7"/>
          <p:cNvSpPr/>
          <p:nvPr/>
        </p:nvSpPr>
        <p:spPr>
          <a:xfrm>
            <a:off x="1066800" y="5011862"/>
            <a:ext cx="4787646" cy="11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194"/>
              </a:lnSpc>
              <a:buNone/>
            </a:pPr>
            <a:r>
              <a:rPr lang="en-US" sz="2100" dirty="0">
                <a:solidFill>
                  <a:srgbClr val="040413">
                    <a:alpha val="55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Снизить объём непроверенных изменений и принять риск на фактах.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6362700" y="2472630"/>
            <a:ext cx="5562600" cy="5558879"/>
          </a:xfrm>
          <a:prstGeom prst="roundRect">
            <a:avLst>
              <a:gd name="adj" fmla="val 5483"/>
            </a:avLst>
          </a:prstGeom>
          <a:solidFill>
            <a:srgbClr val="121213"/>
          </a:solidFill>
          <a:ln/>
        </p:spPr>
      </p:sp>
      <p:sp>
        <p:nvSpPr>
          <p:cNvPr id="11" name="Text 9"/>
          <p:cNvSpPr/>
          <p:nvPr/>
        </p:nvSpPr>
        <p:spPr>
          <a:xfrm>
            <a:off x="6819900" y="2929830"/>
            <a:ext cx="511302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dirty="0">
                <a:solidFill>
                  <a:srgbClr val="E9E9FA">
                    <a:alpha val="37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Прямой пользователь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819900" y="3348930"/>
            <a:ext cx="4787646" cy="13009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805"/>
              </a:lnSpc>
              <a:buNone/>
            </a:pPr>
            <a:r>
              <a:rPr lang="en-US" sz="2550" b="1" dirty="0">
                <a:solidFill>
                  <a:srgbClr val="FFFFFF">
                    <a:alpha val="94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MLSecOps, AI Security, AppSec, Red Team, AI Platform / MLOps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6819900" y="4802312"/>
            <a:ext cx="4648200" cy="19050"/>
          </a:xfrm>
          <a:prstGeom prst="rect">
            <a:avLst/>
          </a:prstGeom>
          <a:solidFill>
            <a:srgbClr val="E7E7F8">
              <a:alpha val="18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819900" y="5011862"/>
            <a:ext cx="4787646" cy="15847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194"/>
              </a:lnSpc>
              <a:buNone/>
            </a:pPr>
            <a:r>
              <a:rPr lang="en-US" sz="2100" dirty="0">
                <a:solidFill>
                  <a:srgbClr val="EEEEFB">
                    <a:alpha val="55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Запускать проверки до релиза и после каждого изменения модели, промпта, памяти, ролей или инструментов.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12115800" y="2472630"/>
            <a:ext cx="5562600" cy="5558879"/>
          </a:xfrm>
          <a:prstGeom prst="roundRect">
            <a:avLst>
              <a:gd name="adj" fmla="val 5483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12573000" y="2929830"/>
            <a:ext cx="511302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dirty="0">
                <a:solidFill>
                  <a:srgbClr val="05081D">
                    <a:alpha val="3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Потребитель результата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573000" y="3348930"/>
            <a:ext cx="4787646" cy="13009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805"/>
              </a:lnSpc>
              <a:buNone/>
            </a:pPr>
            <a:r>
              <a:rPr lang="en-US" sz="2550" b="1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Команда агента, product owner, риск и архитектурный комитет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12573000" y="4802312"/>
            <a:ext cx="4648200" cy="19050"/>
          </a:xfrm>
          <a:prstGeom prst="rect">
            <a:avLst/>
          </a:prstGeom>
          <a:solidFill>
            <a:srgbClr val="EDECEA"/>
          </a:solidFill>
          <a:ln/>
        </p:spPr>
      </p:sp>
      <p:sp>
        <p:nvSpPr>
          <p:cNvPr id="19" name="Text 17"/>
          <p:cNvSpPr/>
          <p:nvPr/>
        </p:nvSpPr>
        <p:spPr>
          <a:xfrm>
            <a:off x="12573000" y="5011862"/>
            <a:ext cx="4787646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194"/>
              </a:lnSpc>
              <a:buNone/>
            </a:pPr>
            <a:r>
              <a:rPr lang="en-US" sz="2100" dirty="0">
                <a:solidFill>
                  <a:srgbClr val="040413">
                    <a:alpha val="55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Исправить находку или принять обоснованный риск.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609600" y="8298210"/>
            <a:ext cx="17068800" cy="1379190"/>
          </a:xfrm>
          <a:prstGeom prst="roundRect">
            <a:avLst>
              <a:gd name="adj" fmla="val 16575"/>
            </a:avLst>
          </a:prstGeom>
          <a:solidFill>
            <a:srgbClr val="EDECEA"/>
          </a:solidFill>
          <a:ln/>
        </p:spPr>
      </p:sp>
      <p:sp>
        <p:nvSpPr>
          <p:cNvPr id="21" name="Text 19"/>
          <p:cNvSpPr/>
          <p:nvPr/>
        </p:nvSpPr>
        <p:spPr>
          <a:xfrm>
            <a:off x="1143000" y="8778255"/>
            <a:ext cx="4447862" cy="4572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3810"/>
              </a:lnSpc>
              <a:buNone/>
            </a:pPr>
            <a:r>
              <a:rPr lang="en-US" sz="3300" b="1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до 5 агентов в день</a:t>
            </a:r>
            <a:endParaRPr lang="en-US" sz="3300" dirty="0"/>
          </a:p>
        </p:txBody>
      </p:sp>
      <p:sp>
        <p:nvSpPr>
          <p:cNvPr id="22" name="Text 20"/>
          <p:cNvSpPr/>
          <p:nvPr/>
        </p:nvSpPr>
        <p:spPr>
          <a:xfrm>
            <a:off x="5567511" y="8641110"/>
            <a:ext cx="11924813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419"/>
              </a:lnSpc>
              <a:buNone/>
            </a:pPr>
            <a:r>
              <a:rPr lang="en-US" sz="1950" dirty="0">
                <a:solidFill>
                  <a:srgbClr val="040413">
                    <a:alpha val="55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на одного из трёх специалистов. Сигнал из интервью Альфа-Банка: полноценное исследование одного агента выбивает команду из SLA.</a:t>
            </a:r>
            <a:endParaRPr lang="en-US" sz="1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609600"/>
            <a:ext cx="13735050" cy="1272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692"/>
              </a:lnSpc>
              <a:buNone/>
            </a:pPr>
            <a:r>
              <a:rPr lang="en-US" sz="4050" b="1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Ручной аудит работает. Сильный агент помогает. Оба не закрывают нужный workflow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17137335" y="1615380"/>
            <a:ext cx="38866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spc="150" kern="0" dirty="0">
                <a:solidFill>
                  <a:srgbClr val="05081D">
                    <a:alpha val="3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66800" y="2110680"/>
            <a:ext cx="44005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spc="113" kern="0" dirty="0">
                <a:solidFill>
                  <a:srgbClr val="05081D">
                    <a:alpha val="3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ПОДХОД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257800" y="2110680"/>
            <a:ext cx="588647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spc="113" kern="0" dirty="0">
                <a:solidFill>
                  <a:srgbClr val="05081D">
                    <a:alpha val="3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ЧТО ДАЁТ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799638" y="2110680"/>
            <a:ext cx="706371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spc="113" kern="0" dirty="0">
                <a:solidFill>
                  <a:srgbClr val="EF31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ПОЧЕМУ НЕДОСТАТОЧНО ДЛЯ СЕГМЕНТА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09600" y="2491680"/>
            <a:ext cx="17068800" cy="1685553"/>
          </a:xfrm>
          <a:prstGeom prst="roundRect">
            <a:avLst>
              <a:gd name="adj" fmla="val 18083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066800" y="3136329"/>
            <a:ext cx="4400550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52"/>
              </a:lnSpc>
              <a:buNone/>
            </a:pPr>
            <a:r>
              <a:rPr lang="en-US" sz="2400" b="1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Ручной аудит / Red Team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257800" y="2975372"/>
            <a:ext cx="5511879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613"/>
              </a:lnSpc>
              <a:buNone/>
            </a:pPr>
            <a:r>
              <a:rPr lang="en-US" sz="1950" dirty="0">
                <a:solidFill>
                  <a:srgbClr val="040413">
                    <a:alpha val="55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Эксперт моделирует угрозы, проверяет логи, интерпретирует риск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0799638" y="2975372"/>
            <a:ext cx="6614208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613"/>
              </a:lnSpc>
              <a:buNone/>
            </a:pPr>
            <a:r>
              <a:rPr lang="en-US" sz="1950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Дорого, медленно, зависит от редкой экспертизы; разовый отчёт устаревает после изменений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609600" y="4329633"/>
            <a:ext cx="17068800" cy="1915344"/>
          </a:xfrm>
          <a:prstGeom prst="roundRect">
            <a:avLst>
              <a:gd name="adj" fmla="val 15914"/>
            </a:avLst>
          </a:prstGeom>
          <a:solidFill>
            <a:srgbClr val="121213"/>
          </a:solidFill>
          <a:ln/>
        </p:spPr>
      </p:sp>
      <p:sp>
        <p:nvSpPr>
          <p:cNvPr id="12" name="Text 10"/>
          <p:cNvSpPr/>
          <p:nvPr/>
        </p:nvSpPr>
        <p:spPr>
          <a:xfrm>
            <a:off x="1066800" y="4891088"/>
            <a:ext cx="4120515" cy="830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52"/>
              </a:lnSpc>
              <a:buNone/>
            </a:pPr>
            <a:r>
              <a:rPr lang="en-US" sz="2400" b="1" dirty="0">
                <a:solidFill>
                  <a:srgbClr val="FFFFFF">
                    <a:alpha val="94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Сильный агент с инфраструктурой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257800" y="4928220"/>
            <a:ext cx="5511879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613"/>
              </a:lnSpc>
              <a:buNone/>
            </a:pPr>
            <a:r>
              <a:rPr lang="en-US" sz="1950" dirty="0">
                <a:solidFill>
                  <a:srgbClr val="EEEEFB">
                    <a:alpha val="55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Быстро исследует гипотезы, генерирует атаки, работает с документацией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799638" y="4748733"/>
            <a:ext cx="6614208" cy="11152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613"/>
              </a:lnSpc>
              <a:buNone/>
            </a:pPr>
            <a:r>
              <a:rPr lang="en-US" sz="1950" dirty="0">
                <a:solidFill>
                  <a:srgbClr val="FFFFFF">
                    <a:alpha val="94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Внешний SaaS и трассы нельзя выносить за контур; нет независимого state oracle и воспроизводимого workflow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609600" y="6397377"/>
            <a:ext cx="17068800" cy="1685627"/>
          </a:xfrm>
          <a:prstGeom prst="roundRect">
            <a:avLst>
              <a:gd name="adj" fmla="val 18082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1066800" y="7042100"/>
            <a:ext cx="4400550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52"/>
              </a:lnSpc>
              <a:buNone/>
            </a:pPr>
            <a:r>
              <a:rPr lang="en-US" sz="2400" b="1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Prompt-only проверка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257800" y="7060629"/>
            <a:ext cx="5886472" cy="397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613"/>
              </a:lnSpc>
              <a:buNone/>
            </a:pPr>
            <a:r>
              <a:rPr lang="en-US" sz="1950" dirty="0">
                <a:solidFill>
                  <a:srgbClr val="040413">
                    <a:alpha val="55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Быстро проверяет реакцию на запрос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0799638" y="6881143"/>
            <a:ext cx="6614208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613"/>
              </a:lnSpc>
              <a:buNone/>
            </a:pPr>
            <a:r>
              <a:rPr lang="en-US" sz="1950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Не подтверждает запись в память, межсессионный эффект и реальный вызов инструмента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609600" y="8349704"/>
            <a:ext cx="17068800" cy="1327696"/>
          </a:xfrm>
          <a:prstGeom prst="roundRect">
            <a:avLst>
              <a:gd name="adj" fmla="val 17218"/>
            </a:avLst>
          </a:prstGeom>
          <a:solidFill>
            <a:srgbClr val="EDECEA"/>
          </a:solidFill>
          <a:ln/>
        </p:spPr>
      </p:sp>
      <p:sp>
        <p:nvSpPr>
          <p:cNvPr id="20" name="Text 18"/>
          <p:cNvSpPr/>
          <p:nvPr/>
        </p:nvSpPr>
        <p:spPr>
          <a:xfrm>
            <a:off x="1143000" y="8654504"/>
            <a:ext cx="16482060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275"/>
              </a:lnSpc>
              <a:buNone/>
            </a:pPr>
            <a:r>
              <a:rPr lang="en-US" sz="1950" dirty="0">
                <a:solidFill>
                  <a:srgbClr val="040413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Ориентиры: публичный agentic-аудит — от 400–800 тыс. ₽ и 2–6 недель · активный исследовательский агент — от $100/мес., но это не готовый процесс для банка</a:t>
            </a:r>
            <a:endParaRPr lang="en-US" sz="1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609600"/>
            <a:ext cx="13735050" cy="1272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692"/>
              </a:lnSpc>
              <a:buNone/>
            </a:pPr>
            <a:r>
              <a:rPr lang="en-US" sz="4050" b="1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MOROK автоматизирует полный цикл agentic red teaming в авторизованном контуре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17137335" y="1615380"/>
            <a:ext cx="38866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spc="150" kern="0" dirty="0">
                <a:solidFill>
                  <a:srgbClr val="05081D">
                    <a:alpha val="3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09600" y="2110680"/>
            <a:ext cx="17068800" cy="3505126"/>
          </a:xfrm>
          <a:prstGeom prst="roundRect">
            <a:avLst>
              <a:gd name="adj" fmla="val 8696"/>
            </a:avLst>
          </a:prstGeom>
          <a:solidFill>
            <a:srgbClr val="121213"/>
          </a:solidFill>
          <a:ln/>
        </p:spPr>
      </p:sp>
      <p:sp>
        <p:nvSpPr>
          <p:cNvPr id="5" name="Shape 3"/>
          <p:cNvSpPr/>
          <p:nvPr/>
        </p:nvSpPr>
        <p:spPr>
          <a:xfrm>
            <a:off x="1066800" y="2644080"/>
            <a:ext cx="2317179" cy="1459185"/>
          </a:xfrm>
          <a:prstGeom prst="roundRect">
            <a:avLst>
              <a:gd name="adj" fmla="val 13055"/>
            </a:avLst>
          </a:prstGeom>
          <a:solidFill>
            <a:srgbClr val="D6D6E5">
              <a:alpha val="7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2910780"/>
            <a:ext cx="1936179" cy="963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857"/>
              </a:lnSpc>
              <a:buNone/>
            </a:pPr>
            <a:r>
              <a:rPr lang="en-US" sz="1800" dirty="0">
                <a:solidFill>
                  <a:srgbClr val="FFFFFF">
                    <a:alpha val="94000"/>
                  </a:srgbClr>
                </a:solidFill>
                <a:highlight>
                  <a:srgbClr val="FCFCFD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архитектура API · роли · инструменты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66800" y="4236616"/>
            <a:ext cx="254889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dirty="0">
                <a:solidFill>
                  <a:srgbClr val="E9E9FA">
                    <a:alpha val="37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517329" y="3548881"/>
            <a:ext cx="25970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2400" dirty="0">
                <a:solidFill>
                  <a:srgbClr val="E9E9FA">
                    <a:alpha val="37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834185" y="2644080"/>
            <a:ext cx="2317254" cy="1150590"/>
          </a:xfrm>
          <a:prstGeom prst="roundRect">
            <a:avLst>
              <a:gd name="adj" fmla="val 16557"/>
            </a:avLst>
          </a:prstGeom>
          <a:solidFill>
            <a:srgbClr val="D6D6E5">
              <a:alpha val="7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062785" y="2910780"/>
            <a:ext cx="1936254" cy="65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857"/>
              </a:lnSpc>
              <a:buNone/>
            </a:pPr>
            <a:r>
              <a:rPr lang="en-US" sz="1800" dirty="0">
                <a:solidFill>
                  <a:srgbClr val="FFFFFF">
                    <a:alpha val="94000"/>
                  </a:srgbClr>
                </a:solidFill>
                <a:highlight>
                  <a:srgbClr val="FCFCFD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модель угроз и сценарии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834185" y="3928021"/>
            <a:ext cx="254897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dirty="0">
                <a:solidFill>
                  <a:srgbClr val="E9E9FA">
                    <a:alpha val="37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284788" y="3548881"/>
            <a:ext cx="25970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2400" dirty="0">
                <a:solidFill>
                  <a:srgbClr val="E9E9FA">
                    <a:alpha val="37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6601644" y="2644080"/>
            <a:ext cx="2317179" cy="1150590"/>
          </a:xfrm>
          <a:prstGeom prst="roundRect">
            <a:avLst>
              <a:gd name="adj" fmla="val 16557"/>
            </a:avLst>
          </a:prstGeom>
          <a:solidFill>
            <a:srgbClr val="D6D6E5">
              <a:alpha val="7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830244" y="2910780"/>
            <a:ext cx="1936179" cy="65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857"/>
              </a:lnSpc>
              <a:buNone/>
            </a:pPr>
            <a:r>
              <a:rPr lang="en-US" sz="1800" dirty="0">
                <a:solidFill>
                  <a:srgbClr val="FFFFFF">
                    <a:alpha val="94000"/>
                  </a:srgbClr>
                </a:solidFill>
                <a:highlight>
                  <a:srgbClr val="FCFCFD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многошаговое выполнение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601644" y="3928021"/>
            <a:ext cx="254889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dirty="0">
                <a:solidFill>
                  <a:srgbClr val="E9E9FA">
                    <a:alpha val="37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052173" y="3548881"/>
            <a:ext cx="25970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2400" dirty="0">
                <a:solidFill>
                  <a:srgbClr val="E9E9FA">
                    <a:alpha val="37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9369028" y="2644080"/>
            <a:ext cx="2317254" cy="1767780"/>
          </a:xfrm>
          <a:prstGeom prst="roundRect">
            <a:avLst>
              <a:gd name="adj" fmla="val 10776"/>
            </a:avLst>
          </a:prstGeom>
          <a:solidFill>
            <a:srgbClr val="EF3124"/>
          </a:solidFill>
          <a:ln/>
        </p:spPr>
      </p:sp>
      <p:sp>
        <p:nvSpPr>
          <p:cNvPr id="18" name="Text 16"/>
          <p:cNvSpPr/>
          <p:nvPr/>
        </p:nvSpPr>
        <p:spPr>
          <a:xfrm>
            <a:off x="9597628" y="2910780"/>
            <a:ext cx="1936254" cy="1272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857"/>
              </a:lnSpc>
              <a:buNone/>
            </a:pPr>
            <a:r>
              <a:rPr lang="en-US" sz="1800" dirty="0">
                <a:solidFill>
                  <a:srgbClr val="FFFFFF"/>
                </a:solidFill>
                <a:highlight>
                  <a:srgbClr val="EF3124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наблюдение память · трассы · tool calls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369028" y="4545211"/>
            <a:ext cx="2393454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dirty="0">
                <a:solidFill>
                  <a:srgbClr val="EF31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· state oracle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819632" y="3548881"/>
            <a:ext cx="25970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2400" dirty="0">
                <a:solidFill>
                  <a:srgbClr val="E9E9FA">
                    <a:alpha val="37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12136487" y="2644080"/>
            <a:ext cx="2317254" cy="1459185"/>
          </a:xfrm>
          <a:prstGeom prst="roundRect">
            <a:avLst>
              <a:gd name="adj" fmla="val 13055"/>
            </a:avLst>
          </a:prstGeom>
          <a:solidFill>
            <a:srgbClr val="EF3124"/>
          </a:solidFill>
          <a:ln/>
        </p:spPr>
      </p:sp>
      <p:sp>
        <p:nvSpPr>
          <p:cNvPr id="22" name="Text 20"/>
          <p:cNvSpPr/>
          <p:nvPr/>
        </p:nvSpPr>
        <p:spPr>
          <a:xfrm>
            <a:off x="12365087" y="2910780"/>
            <a:ext cx="1936254" cy="963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857"/>
              </a:lnSpc>
              <a:buNone/>
            </a:pPr>
            <a:r>
              <a:rPr lang="en-US" sz="1800" dirty="0">
                <a:solidFill>
                  <a:srgbClr val="FFFFFF"/>
                </a:solidFill>
                <a:highlight>
                  <a:srgbClr val="EF3124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проверка цели и затронутого эффекта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136487" y="4236616"/>
            <a:ext cx="2393454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dirty="0">
                <a:solidFill>
                  <a:srgbClr val="EF31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· state oracle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4587091" y="3548881"/>
            <a:ext cx="25970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2400" dirty="0">
                <a:solidFill>
                  <a:srgbClr val="E9E9FA">
                    <a:alpha val="37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14903946" y="2644080"/>
            <a:ext cx="2317254" cy="2076376"/>
          </a:xfrm>
          <a:prstGeom prst="roundRect">
            <a:avLst>
              <a:gd name="adj" fmla="val 9175"/>
            </a:avLst>
          </a:prstGeom>
          <a:solidFill>
            <a:srgbClr val="D6D6E5">
              <a:alpha val="7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15132546" y="2910780"/>
            <a:ext cx="1936254" cy="15810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857"/>
              </a:lnSpc>
              <a:buNone/>
            </a:pPr>
            <a:r>
              <a:rPr lang="en-US" sz="1800" dirty="0">
                <a:solidFill>
                  <a:srgbClr val="FFFFFF">
                    <a:alpha val="94000"/>
                  </a:srgbClr>
                </a:solidFill>
                <a:highlight>
                  <a:srgbClr val="FCFCFD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evidence-отчёт и регрессионный тест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4903946" y="4853806"/>
            <a:ext cx="254897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dirty="0">
                <a:solidFill>
                  <a:srgbClr val="E9E9FA">
                    <a:alpha val="37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09600" y="5882506"/>
            <a:ext cx="5562600" cy="3794894"/>
          </a:xfrm>
          <a:prstGeom prst="roundRect">
            <a:avLst>
              <a:gd name="adj" fmla="val 8032"/>
            </a:avLst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1066800" y="7286551"/>
            <a:ext cx="511302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448"/>
              </a:lnSpc>
              <a:buNone/>
            </a:pPr>
            <a:r>
              <a:rPr lang="en-US" sz="2700" b="1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Разнообразные сценарии</a:t>
            </a:r>
            <a:endParaRPr lang="en-US" sz="2700" dirty="0"/>
          </a:p>
        </p:txBody>
      </p:sp>
      <p:sp>
        <p:nvSpPr>
          <p:cNvPr id="30" name="Text 28"/>
          <p:cNvSpPr/>
          <p:nvPr/>
        </p:nvSpPr>
        <p:spPr>
          <a:xfrm>
            <a:off x="1066800" y="7886626"/>
            <a:ext cx="5113020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194"/>
              </a:lnSpc>
              <a:buNone/>
            </a:pPr>
            <a:r>
              <a:rPr lang="en-US" sz="2100" dirty="0">
                <a:solidFill>
                  <a:srgbClr val="040413">
                    <a:alpha val="55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а не один jailbreak</a:t>
            </a:r>
            <a:endParaRPr lang="en-US" sz="2100" dirty="0"/>
          </a:p>
        </p:txBody>
      </p:sp>
      <p:sp>
        <p:nvSpPr>
          <p:cNvPr id="31" name="Shape 29"/>
          <p:cNvSpPr/>
          <p:nvPr/>
        </p:nvSpPr>
        <p:spPr>
          <a:xfrm>
            <a:off x="6362700" y="5882506"/>
            <a:ext cx="5562600" cy="3794894"/>
          </a:xfrm>
          <a:prstGeom prst="roundRect">
            <a:avLst>
              <a:gd name="adj" fmla="val 8032"/>
            </a:avLst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6819900" y="7093223"/>
            <a:ext cx="511302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448"/>
              </a:lnSpc>
              <a:buNone/>
            </a:pPr>
            <a:r>
              <a:rPr lang="en-US" sz="2700" b="1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Точка компрометации</a:t>
            </a:r>
            <a:endParaRPr lang="en-US" sz="2700" dirty="0"/>
          </a:p>
        </p:txBody>
      </p:sp>
      <p:sp>
        <p:nvSpPr>
          <p:cNvPr id="33" name="Text 31"/>
          <p:cNvSpPr/>
          <p:nvPr/>
        </p:nvSpPr>
        <p:spPr>
          <a:xfrm>
            <a:off x="6819900" y="7693298"/>
            <a:ext cx="4787646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194"/>
              </a:lnSpc>
              <a:buNone/>
            </a:pPr>
            <a:r>
              <a:rPr lang="en-US" sz="2100" dirty="0">
                <a:solidFill>
                  <a:srgbClr val="040413">
                    <a:alpha val="55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а не мнение модели о том, что «похоже на атаку»</a:t>
            </a:r>
            <a:endParaRPr lang="en-US" sz="2100" dirty="0"/>
          </a:p>
        </p:txBody>
      </p:sp>
      <p:sp>
        <p:nvSpPr>
          <p:cNvPr id="34" name="Shape 32"/>
          <p:cNvSpPr/>
          <p:nvPr/>
        </p:nvSpPr>
        <p:spPr>
          <a:xfrm>
            <a:off x="12115800" y="5882506"/>
            <a:ext cx="5562600" cy="3794894"/>
          </a:xfrm>
          <a:prstGeom prst="roundRect">
            <a:avLst>
              <a:gd name="adj" fmla="val 8032"/>
            </a:avLst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12573000" y="7093223"/>
            <a:ext cx="511302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448"/>
              </a:lnSpc>
              <a:buNone/>
            </a:pPr>
            <a:r>
              <a:rPr lang="en-US" sz="2700" b="1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Повторная проверка</a:t>
            </a:r>
            <a:endParaRPr lang="en-US" sz="2700" dirty="0"/>
          </a:p>
        </p:txBody>
      </p:sp>
      <p:sp>
        <p:nvSpPr>
          <p:cNvPr id="36" name="Text 34"/>
          <p:cNvSpPr/>
          <p:nvPr/>
        </p:nvSpPr>
        <p:spPr>
          <a:xfrm>
            <a:off x="12573000" y="7693298"/>
            <a:ext cx="4787646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194"/>
              </a:lnSpc>
              <a:buNone/>
            </a:pPr>
            <a:r>
              <a:rPr lang="en-US" sz="2100" dirty="0">
                <a:solidFill>
                  <a:srgbClr val="040413">
                    <a:alpha val="55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после изменения или исправления агента</a:t>
            </a:r>
            <a:endParaRPr lang="en-US" sz="2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609600"/>
            <a:ext cx="13735050" cy="1272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692"/>
              </a:lnSpc>
              <a:buNone/>
            </a:pPr>
            <a:r>
              <a:rPr lang="en-US" sz="4050" b="1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Один движок, три разные упаковки — сегмент пока не выбран окончательно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17137335" y="1615380"/>
            <a:ext cx="38866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spc="150" kern="0" dirty="0">
                <a:solidFill>
                  <a:srgbClr val="05081D">
                    <a:alpha val="3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09600" y="2110680"/>
            <a:ext cx="17068800" cy="971550"/>
          </a:xfrm>
          <a:prstGeom prst="roundRect">
            <a:avLst>
              <a:gd name="adj" fmla="val 31373"/>
            </a:avLst>
          </a:prstGeom>
          <a:solidFill>
            <a:srgbClr val="121213"/>
          </a:solidFill>
          <a:ln/>
        </p:spPr>
      </p:sp>
      <p:sp>
        <p:nvSpPr>
          <p:cNvPr id="5" name="Text 3"/>
          <p:cNvSpPr/>
          <p:nvPr/>
        </p:nvSpPr>
        <p:spPr>
          <a:xfrm>
            <a:off x="5010150" y="2453580"/>
            <a:ext cx="282892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949"/>
              </a:lnSpc>
              <a:buNone/>
            </a:pPr>
            <a:r>
              <a:rPr lang="en-US" sz="2250" dirty="0">
                <a:solidFill>
                  <a:srgbClr val="FFFFFF">
                    <a:alpha val="94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scenario engine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7810500" y="2558355"/>
            <a:ext cx="76200" cy="76200"/>
          </a:xfrm>
          <a:prstGeom prst="ellipse">
            <a:avLst/>
          </a:prstGeom>
          <a:solidFill>
            <a:srgbClr val="EF3124"/>
          </a:solidFill>
          <a:ln/>
        </p:spPr>
      </p:sp>
      <p:sp>
        <p:nvSpPr>
          <p:cNvPr id="7" name="Text 5"/>
          <p:cNvSpPr/>
          <p:nvPr/>
        </p:nvSpPr>
        <p:spPr>
          <a:xfrm>
            <a:off x="8115300" y="2453580"/>
            <a:ext cx="226314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949"/>
              </a:lnSpc>
              <a:buNone/>
            </a:pPr>
            <a:r>
              <a:rPr lang="en-US" sz="2250" dirty="0">
                <a:solidFill>
                  <a:srgbClr val="FFFFFF">
                    <a:alpha val="94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state oracle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10401300" y="2558355"/>
            <a:ext cx="76200" cy="76200"/>
          </a:xfrm>
          <a:prstGeom prst="ellipse">
            <a:avLst/>
          </a:prstGeom>
          <a:solidFill>
            <a:srgbClr val="EF3124"/>
          </a:solidFill>
          <a:ln/>
        </p:spPr>
      </p:sp>
      <p:sp>
        <p:nvSpPr>
          <p:cNvPr id="9" name="Text 7"/>
          <p:cNvSpPr/>
          <p:nvPr/>
        </p:nvSpPr>
        <p:spPr>
          <a:xfrm>
            <a:off x="10706100" y="2453580"/>
            <a:ext cx="282892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949"/>
              </a:lnSpc>
              <a:buNone/>
            </a:pPr>
            <a:r>
              <a:rPr lang="en-US" sz="2250" dirty="0">
                <a:solidFill>
                  <a:srgbClr val="FFFFFF">
                    <a:alpha val="94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evidence report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609600" y="3348930"/>
            <a:ext cx="5562600" cy="4700736"/>
          </a:xfrm>
          <a:prstGeom prst="roundRect">
            <a:avLst>
              <a:gd name="adj" fmla="val 6484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1066800" y="3806130"/>
            <a:ext cx="4787646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448"/>
              </a:lnSpc>
              <a:buNone/>
            </a:pPr>
            <a:r>
              <a:rPr lang="en-US" sz="2700" b="1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Регулируемые организации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1066800" y="4891980"/>
            <a:ext cx="4648200" cy="19050"/>
          </a:xfrm>
          <a:prstGeom prst="rect">
            <a:avLst/>
          </a:prstGeom>
          <a:solidFill>
            <a:srgbClr val="EDECEA"/>
          </a:solidFill>
          <a:ln/>
        </p:spPr>
      </p:sp>
      <p:sp>
        <p:nvSpPr>
          <p:cNvPr id="13" name="Text 11"/>
          <p:cNvSpPr/>
          <p:nvPr/>
        </p:nvSpPr>
        <p:spPr>
          <a:xfrm>
            <a:off x="1066800" y="5139630"/>
            <a:ext cx="4787646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194"/>
              </a:lnSpc>
              <a:buNone/>
            </a:pPr>
            <a:r>
              <a:rPr lang="en-US" sz="2100" dirty="0">
                <a:solidFill>
                  <a:srgbClr val="040413">
                    <a:alpha val="55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Контурный прогон, evidence для риск-комитета, регрессия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1066800" y="6533406"/>
            <a:ext cx="4648200" cy="1059061"/>
          </a:xfrm>
          <a:prstGeom prst="roundRect">
            <a:avLst>
              <a:gd name="adj" fmla="val 14390"/>
            </a:avLst>
          </a:prstGeom>
          <a:solidFill>
            <a:srgbClr val="EDECEA"/>
          </a:solidFill>
          <a:ln/>
        </p:spPr>
      </p:sp>
      <p:sp>
        <p:nvSpPr>
          <p:cNvPr id="15" name="Text 13"/>
          <p:cNvSpPr/>
          <p:nvPr/>
        </p:nvSpPr>
        <p:spPr>
          <a:xfrm>
            <a:off x="1314450" y="6742956"/>
            <a:ext cx="4292346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1800" dirty="0">
                <a:solidFill>
                  <a:srgbClr val="12121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on-prem-инструмент для ДКБ, AI-платформы и команд агентов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362700" y="3348930"/>
            <a:ext cx="5562600" cy="4700736"/>
          </a:xfrm>
          <a:prstGeom prst="roundRect">
            <a:avLst>
              <a:gd name="adj" fmla="val 6484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6819900" y="3806130"/>
            <a:ext cx="511302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448"/>
              </a:lnSpc>
              <a:buNone/>
            </a:pPr>
            <a:r>
              <a:rPr lang="en-US" sz="2700" b="1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Кибербез-компании</a:t>
            </a:r>
            <a:endParaRPr lang="en-US" sz="2700" dirty="0"/>
          </a:p>
        </p:txBody>
      </p:sp>
      <p:sp>
        <p:nvSpPr>
          <p:cNvPr id="18" name="Shape 16"/>
          <p:cNvSpPr/>
          <p:nvPr/>
        </p:nvSpPr>
        <p:spPr>
          <a:xfrm>
            <a:off x="6819900" y="4463355"/>
            <a:ext cx="4648200" cy="19050"/>
          </a:xfrm>
          <a:prstGeom prst="rect">
            <a:avLst/>
          </a:prstGeom>
          <a:solidFill>
            <a:srgbClr val="EDECEA"/>
          </a:solidFill>
          <a:ln/>
        </p:spPr>
      </p:sp>
      <p:sp>
        <p:nvSpPr>
          <p:cNvPr id="19" name="Text 17"/>
          <p:cNvSpPr/>
          <p:nvPr/>
        </p:nvSpPr>
        <p:spPr>
          <a:xfrm>
            <a:off x="6819900" y="4711005"/>
            <a:ext cx="4787646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194"/>
              </a:lnSpc>
              <a:buNone/>
            </a:pPr>
            <a:r>
              <a:rPr lang="en-US" sz="2100" dirty="0">
                <a:solidFill>
                  <a:srgbClr val="040413">
                    <a:alpha val="55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Выше пропускная способность и повторный retest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6819900" y="6533406"/>
            <a:ext cx="4648200" cy="1059061"/>
          </a:xfrm>
          <a:prstGeom prst="roundRect">
            <a:avLst>
              <a:gd name="adj" fmla="val 14390"/>
            </a:avLst>
          </a:prstGeom>
          <a:solidFill>
            <a:srgbClr val="EDECEA"/>
          </a:solidFill>
          <a:ln/>
        </p:spPr>
      </p:sp>
      <p:sp>
        <p:nvSpPr>
          <p:cNvPr id="21" name="Text 19"/>
          <p:cNvSpPr/>
          <p:nvPr/>
        </p:nvSpPr>
        <p:spPr>
          <a:xfrm>
            <a:off x="7067550" y="6742956"/>
            <a:ext cx="4292346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1800" dirty="0">
                <a:solidFill>
                  <a:srgbClr val="12121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white-label / on-prem-модуль, библиотека сценариев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2115800" y="3348930"/>
            <a:ext cx="5562600" cy="4700736"/>
          </a:xfrm>
          <a:prstGeom prst="roundRect">
            <a:avLst>
              <a:gd name="adj" fmla="val 6484"/>
            </a:avLst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12573000" y="3806130"/>
            <a:ext cx="4787646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448"/>
              </a:lnSpc>
              <a:buNone/>
            </a:pPr>
            <a:r>
              <a:rPr lang="en-US" sz="2700" b="1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Независимые компании с агентами</a:t>
            </a:r>
            <a:endParaRPr lang="en-US" sz="2700" dirty="0"/>
          </a:p>
        </p:txBody>
      </p:sp>
      <p:sp>
        <p:nvSpPr>
          <p:cNvPr id="24" name="Shape 22"/>
          <p:cNvSpPr/>
          <p:nvPr/>
        </p:nvSpPr>
        <p:spPr>
          <a:xfrm>
            <a:off x="12573000" y="4891980"/>
            <a:ext cx="4648200" cy="19050"/>
          </a:xfrm>
          <a:prstGeom prst="rect">
            <a:avLst/>
          </a:prstGeom>
          <a:solidFill>
            <a:srgbClr val="EDECEA"/>
          </a:solidFill>
          <a:ln/>
        </p:spPr>
      </p:sp>
      <p:sp>
        <p:nvSpPr>
          <p:cNvPr id="25" name="Text 23"/>
          <p:cNvSpPr/>
          <p:nvPr/>
        </p:nvSpPr>
        <p:spPr>
          <a:xfrm>
            <a:off x="12573000" y="5139630"/>
            <a:ext cx="4787646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194"/>
              </a:lnSpc>
              <a:buNone/>
            </a:pPr>
            <a:r>
              <a:rPr lang="en-US" sz="2100" dirty="0">
                <a:solidFill>
                  <a:srgbClr val="040413">
                    <a:alpha val="55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Не держать редкую AI Security-команду внутри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12573000" y="6533406"/>
            <a:ext cx="4648200" cy="1059061"/>
          </a:xfrm>
          <a:prstGeom prst="roundRect">
            <a:avLst>
              <a:gd name="adj" fmla="val 14390"/>
            </a:avLst>
          </a:prstGeom>
          <a:solidFill>
            <a:srgbClr val="EDECEA"/>
          </a:solidFill>
          <a:ln/>
        </p:spPr>
      </p:sp>
      <p:sp>
        <p:nvSpPr>
          <p:cNvPr id="27" name="Text 25"/>
          <p:cNvSpPr/>
          <p:nvPr/>
        </p:nvSpPr>
        <p:spPr>
          <a:xfrm>
            <a:off x="12820650" y="6742956"/>
            <a:ext cx="4292346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1800" dirty="0">
                <a:solidFill>
                  <a:srgbClr val="12121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регулярный сервис: прогон + экспертный triage + retest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09600" y="8316367"/>
            <a:ext cx="17068800" cy="1361033"/>
          </a:xfrm>
          <a:custGeom>
            <a:avLst/>
            <a:gdLst/>
            <a:ahLst/>
            <a:cxnLst/>
            <a:rect l="l" t="t" r="r" b="b"/>
            <a:pathLst>
              <a:path w="17068800" h="1361033">
                <a:moveTo>
                  <a:pt x="0" y="0"/>
                </a:moveTo>
                <a:lnTo>
                  <a:pt x="16840200" y="0"/>
                </a:lnTo>
                <a:arcTo hR="228600" wR="228600" stAng="16200000" swAng="5400000"/>
                <a:lnTo>
                  <a:pt x="17068800" y="1132433"/>
                </a:lnTo>
                <a:arcTo hR="228600" wR="228600" stAng="0" swAng="5400000"/>
                <a:lnTo>
                  <a:pt x="0" y="136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609600" y="8316367"/>
            <a:ext cx="76200" cy="1361033"/>
          </a:xfrm>
          <a:prstGeom prst="rect">
            <a:avLst/>
          </a:prstGeom>
          <a:solidFill>
            <a:srgbClr val="EF3124"/>
          </a:solidFill>
          <a:ln/>
        </p:spPr>
      </p:sp>
      <p:sp>
        <p:nvSpPr>
          <p:cNvPr id="30" name="Text 28"/>
          <p:cNvSpPr/>
          <p:nvPr/>
        </p:nvSpPr>
        <p:spPr>
          <a:xfrm>
            <a:off x="1143000" y="8621167"/>
            <a:ext cx="16560546" cy="7895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015"/>
              </a:lnSpc>
              <a:buNone/>
            </a:pPr>
            <a:r>
              <a:rPr lang="en-US" sz="2100" dirty="0">
                <a:solidFill>
                  <a:srgbClr val="EF31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H5 </a:t>
            </a:r>
            <a:pPr algn="l" indent="0" marL="0">
              <a:lnSpc>
                <a:spcPct val="117015"/>
              </a:lnSpc>
              <a:buNone/>
            </a:pPr>
            <a:r>
              <a:rPr lang="en-US" sz="2100" dirty="0">
                <a:solidFill>
                  <a:srgbClr val="040413">
                    <a:alpha val="55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— первый канал продаж не выбран. Проверяем willingness to pay, конверсию пилота, длительность цикла и долю повторных запусков.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609600"/>
            <a:ext cx="13735050" cy="1272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692"/>
              </a:lnSpc>
              <a:buNone/>
            </a:pPr>
            <a:r>
              <a:rPr lang="en-US" sz="4050" b="1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MVP: путь от описания агента к повторяемой проверке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17137335" y="1615380"/>
            <a:ext cx="38866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spc="150" kern="0" dirty="0">
                <a:solidFill>
                  <a:srgbClr val="05081D">
                    <a:alpha val="3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09600" y="2110680"/>
            <a:ext cx="5562600" cy="2840385"/>
          </a:xfrm>
          <a:prstGeom prst="roundRect">
            <a:avLst>
              <a:gd name="adj" fmla="val 10731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028700" y="2529780"/>
            <a:ext cx="519684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dirty="0">
                <a:solidFill>
                  <a:srgbClr val="05081D">
                    <a:alpha val="3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28700" y="2929830"/>
            <a:ext cx="4866132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659"/>
              </a:lnSpc>
              <a:buNone/>
            </a:pPr>
            <a:r>
              <a:rPr lang="en-US" sz="2550" b="1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Получить architecture / API / tool contract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6362700" y="2110680"/>
            <a:ext cx="5562600" cy="2840385"/>
          </a:xfrm>
          <a:prstGeom prst="roundRect">
            <a:avLst>
              <a:gd name="adj" fmla="val 10731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6781800" y="2529780"/>
            <a:ext cx="519684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dirty="0">
                <a:solidFill>
                  <a:srgbClr val="05081D">
                    <a:alpha val="3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781800" y="2929830"/>
            <a:ext cx="4866132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659"/>
              </a:lnSpc>
              <a:buNone/>
            </a:pPr>
            <a:r>
              <a:rPr lang="en-US" sz="2550" b="1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Проверить доступность тестового контура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12115800" y="2110680"/>
            <a:ext cx="5562600" cy="2840385"/>
          </a:xfrm>
          <a:prstGeom prst="roundRect">
            <a:avLst>
              <a:gd name="adj" fmla="val 10731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12534900" y="2529780"/>
            <a:ext cx="519684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dirty="0">
                <a:solidFill>
                  <a:srgbClr val="05081D">
                    <a:alpha val="3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534900" y="2929830"/>
            <a:ext cx="4866132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659"/>
              </a:lnSpc>
              <a:buNone/>
            </a:pPr>
            <a:r>
              <a:rPr lang="en-US" sz="2550" b="1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Выбрать сценарий, роли и число попыток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609600" y="5141565"/>
            <a:ext cx="5562600" cy="2840385"/>
          </a:xfrm>
          <a:prstGeom prst="roundRect">
            <a:avLst>
              <a:gd name="adj" fmla="val 10731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028700" y="5560665"/>
            <a:ext cx="519684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dirty="0">
                <a:solidFill>
                  <a:srgbClr val="05081D">
                    <a:alpha val="3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28700" y="5960715"/>
            <a:ext cx="4866132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659"/>
              </a:lnSpc>
              <a:buNone/>
            </a:pPr>
            <a:r>
              <a:rPr lang="en-US" sz="2550" b="1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Запустить multi-session кампанию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6362700" y="5141565"/>
            <a:ext cx="5562600" cy="2840385"/>
          </a:xfrm>
          <a:prstGeom prst="roundRect">
            <a:avLst>
              <a:gd name="adj" fmla="val 10731"/>
            </a:avLst>
          </a:prstGeom>
          <a:solidFill>
            <a:srgbClr val="121213"/>
          </a:solidFill>
          <a:ln/>
        </p:spPr>
      </p:sp>
      <p:sp>
        <p:nvSpPr>
          <p:cNvPr id="17" name="Text 15"/>
          <p:cNvSpPr/>
          <p:nvPr/>
        </p:nvSpPr>
        <p:spPr>
          <a:xfrm>
            <a:off x="6781800" y="5560665"/>
            <a:ext cx="519684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dirty="0">
                <a:solidFill>
                  <a:srgbClr val="EF31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781800" y="5960715"/>
            <a:ext cx="4866132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659"/>
              </a:lnSpc>
              <a:buNone/>
            </a:pPr>
            <a:r>
              <a:rPr lang="en-US" sz="2550" b="1" dirty="0">
                <a:solidFill>
                  <a:srgbClr val="FFFFFF">
                    <a:alpha val="94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Открыть ASR, evidence и report</a:t>
            </a:r>
            <a:endParaRPr lang="en-US" sz="2550" dirty="0"/>
          </a:p>
        </p:txBody>
      </p:sp>
      <p:sp>
        <p:nvSpPr>
          <p:cNvPr id="19" name="Shape 17"/>
          <p:cNvSpPr/>
          <p:nvPr/>
        </p:nvSpPr>
        <p:spPr>
          <a:xfrm>
            <a:off x="12115800" y="5141565"/>
            <a:ext cx="5562600" cy="2840385"/>
          </a:xfrm>
          <a:prstGeom prst="roundRect">
            <a:avLst>
              <a:gd name="adj" fmla="val 10731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12534900" y="5560665"/>
            <a:ext cx="519684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dirty="0">
                <a:solidFill>
                  <a:srgbClr val="05081D">
                    <a:alpha val="3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534900" y="5960715"/>
            <a:ext cx="4866132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659"/>
              </a:lnSpc>
              <a:buNone/>
            </a:pPr>
            <a:r>
              <a:rPr lang="en-US" sz="2550" b="1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Сохранить сценарий для retest</a:t>
            </a:r>
            <a:endParaRPr lang="en-US" sz="2550" dirty="0"/>
          </a:p>
        </p:txBody>
      </p:sp>
      <p:sp>
        <p:nvSpPr>
          <p:cNvPr id="22" name="Shape 20"/>
          <p:cNvSpPr/>
          <p:nvPr/>
        </p:nvSpPr>
        <p:spPr>
          <a:xfrm>
            <a:off x="609600" y="8248650"/>
            <a:ext cx="17068800" cy="14287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1066800" y="8665890"/>
            <a:ext cx="2807867" cy="63237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9048"/>
              </a:lnSpc>
              <a:buNone/>
            </a:pPr>
            <a:r>
              <a:rPr lang="en-US" sz="1800" spc="113" kern="0" dirty="0">
                <a:solidFill>
                  <a:srgbClr val="EF31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ЭКСПЕРТУ ПОПРОБОВАТЬ В ДЕМО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4135785" y="8591550"/>
            <a:ext cx="11832" cy="742950"/>
          </a:xfrm>
          <a:prstGeom prst="rect">
            <a:avLst/>
          </a:prstGeom>
          <a:solidFill>
            <a:srgbClr val="EDECEA"/>
          </a:solidFill>
          <a:ln/>
        </p:spPr>
      </p:sp>
      <p:sp>
        <p:nvSpPr>
          <p:cNvPr id="25" name="Text 23"/>
          <p:cNvSpPr/>
          <p:nvPr/>
        </p:nvSpPr>
        <p:spPr>
          <a:xfrm>
            <a:off x="4490517" y="8591550"/>
            <a:ext cx="13112604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043"/>
              </a:lnSpc>
              <a:buNone/>
            </a:pPr>
            <a:r>
              <a:rPr lang="en-US" sz="1950" dirty="0">
                <a:solidFill>
                  <a:srgbClr val="040413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 — выбрать </a:t>
            </a:r>
            <a:pPr algn="l" indent="0" marL="0">
              <a:lnSpc>
                <a:spcPct val="113043"/>
              </a:lnSpc>
              <a:buNone/>
            </a:pPr>
            <a:r>
              <a:rPr lang="en-US" sz="1950" dirty="0">
                <a:solidFill>
                  <a:srgbClr val="12121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generated-bac </a:t>
            </a:r>
            <a:pPr algn="l" indent="0" marL="0">
              <a:lnSpc>
                <a:spcPct val="113043"/>
              </a:lnSpc>
              <a:buNone/>
            </a:pPr>
            <a:r>
              <a:rPr lang="en-US" sz="1950" dirty="0">
                <a:solidFill>
                  <a:srgbClr val="040413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2 — запустить 4 попытки от </a:t>
            </a:r>
            <a:pPr algn="l" indent="0" marL="0">
              <a:lnSpc>
                <a:spcPct val="113043"/>
              </a:lnSpc>
              <a:buNone/>
            </a:pPr>
            <a:r>
              <a:rPr lang="en-US" sz="1950" dirty="0">
                <a:solidFill>
                  <a:srgbClr val="12121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cus=1001 </a:t>
            </a:r>
            <a:pPr algn="l" indent="0" marL="0">
              <a:lnSpc>
                <a:spcPct val="113043"/>
              </a:lnSpc>
              <a:buNone/>
            </a:pPr>
            <a:r>
              <a:rPr lang="en-US" sz="1950" dirty="0">
                <a:solidFill>
                  <a:srgbClr val="040413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к </a:t>
            </a:r>
            <a:pPr algn="l" indent="0" marL="0">
              <a:lnSpc>
                <a:spcPct val="113043"/>
              </a:lnSpc>
              <a:buNone/>
            </a:pPr>
            <a:r>
              <a:rPr lang="en-US" sz="1950" dirty="0">
                <a:solidFill>
                  <a:srgbClr val="12121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cus=1002 </a:t>
            </a:r>
            <a:pPr algn="l" indent="0" marL="0">
              <a:lnSpc>
                <a:spcPct val="113043"/>
              </a:lnSpc>
              <a:buNone/>
            </a:pPr>
            <a:r>
              <a:rPr lang="en-US" sz="1950" dirty="0">
                <a:solidFill>
                  <a:srgbClr val="040413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3 — найти в evidence реальный tool call с аргументом </a:t>
            </a:r>
            <a:pPr algn="l" indent="0" marL="0">
              <a:lnSpc>
                <a:spcPct val="113043"/>
              </a:lnSpc>
              <a:buNone/>
            </a:pPr>
            <a:r>
              <a:rPr lang="en-US" sz="1950" dirty="0">
                <a:solidFill>
                  <a:srgbClr val="12121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cus=1002</a:t>
            </a:r>
            <a:endParaRPr lang="en-US" sz="1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609600"/>
            <a:ext cx="14225588" cy="1190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750" b="1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Пользователь </a:t>
            </a:r>
            <a:pPr algn="l" indent="0" marL="0">
              <a:lnSpc>
                <a:spcPct val="100000"/>
              </a:lnSpc>
              <a:buNone/>
            </a:pPr>
            <a:r>
              <a:rPr lang="en-US" sz="3750" b="1" dirty="0">
                <a:solidFill>
                  <a:srgbClr val="12121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cus=1001 </a:t>
            </a:r>
            <a:pPr algn="l" indent="0" marL="0">
              <a:lnSpc>
                <a:spcPct val="100000"/>
              </a:lnSpc>
              <a:buNone/>
            </a:pPr>
            <a:r>
              <a:rPr lang="en-US" sz="3750" b="1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запрашивает данные </a:t>
            </a:r>
            <a:pPr algn="l" indent="0" marL="0">
              <a:lnSpc>
                <a:spcPct val="100000"/>
              </a:lnSpc>
              <a:buNone/>
            </a:pPr>
            <a:r>
              <a:rPr lang="en-US" sz="3750" b="1" dirty="0">
                <a:solidFill>
                  <a:srgbClr val="12121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cus=1002 </a:t>
            </a:r>
            <a:pPr algn="l" indent="0" marL="0">
              <a:lnSpc>
                <a:spcPct val="100000"/>
              </a:lnSpc>
              <a:buNone/>
            </a:pPr>
            <a:r>
              <a:rPr lang="en-US" sz="3750" b="1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. Успех — вызов инструмента, а не формулировка ответа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17137335" y="1533525"/>
            <a:ext cx="38866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spc="150" kern="0" dirty="0">
                <a:solidFill>
                  <a:srgbClr val="05081D">
                    <a:alpha val="3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09600" y="2028825"/>
            <a:ext cx="5267325" cy="6425580"/>
          </a:xfrm>
          <a:prstGeom prst="roundRect">
            <a:avLst>
              <a:gd name="adj" fmla="val 5787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028700" y="2447925"/>
            <a:ext cx="487203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spc="113" kern="0" dirty="0">
                <a:solidFill>
                  <a:srgbClr val="05081D">
                    <a:alpha val="3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 · ВВОД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28700" y="2886075"/>
            <a:ext cx="4872038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52"/>
              </a:lnSpc>
              <a:buNone/>
            </a:pPr>
            <a:r>
              <a:rPr lang="en-US" sz="2400" b="1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Сценарий и роли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028700" y="3491805"/>
            <a:ext cx="4429125" cy="2217241"/>
          </a:xfrm>
          <a:prstGeom prst="roundRect">
            <a:avLst>
              <a:gd name="adj" fmla="val 6873"/>
            </a:avLst>
          </a:prstGeom>
          <a:solidFill>
            <a:srgbClr val="EDECEA"/>
          </a:solidFill>
          <a:ln/>
        </p:spPr>
      </p:sp>
      <p:sp>
        <p:nvSpPr>
          <p:cNvPr id="8" name="Text 6"/>
          <p:cNvSpPr/>
          <p:nvPr/>
        </p:nvSpPr>
        <p:spPr>
          <a:xfrm>
            <a:off x="1295400" y="3758505"/>
            <a:ext cx="4028599" cy="1721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116"/>
              </a:lnSpc>
              <a:buNone/>
            </a:pPr>
            <a:r>
              <a:rPr lang="en-US" sz="1950" dirty="0">
                <a:solidFill>
                  <a:srgbClr val="121213"/>
                </a:solidFill>
                <a:highlight>
                  <a:srgbClr val="EDECEA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scenario: generated-bac attacker: cus=1001 target: cus=1002 attempts: 4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6067425" y="2028825"/>
            <a:ext cx="5267325" cy="6425580"/>
          </a:xfrm>
          <a:prstGeom prst="roundRect">
            <a:avLst>
              <a:gd name="adj" fmla="val 5787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6486525" y="2447925"/>
            <a:ext cx="487203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spc="113" kern="0" dirty="0">
                <a:solidFill>
                  <a:srgbClr val="05081D">
                    <a:alpha val="3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 · ИСПОЛНЕНИЕ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86525" y="2886075"/>
            <a:ext cx="4561999" cy="830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52"/>
              </a:lnSpc>
              <a:buNone/>
            </a:pPr>
            <a:r>
              <a:rPr lang="en-US" sz="2400" b="1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Четыре варианта одной BAC-атаки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6486525" y="3887986"/>
            <a:ext cx="4429125" cy="652463"/>
          </a:xfrm>
          <a:prstGeom prst="roundRect">
            <a:avLst>
              <a:gd name="adj" fmla="val 20438"/>
            </a:avLst>
          </a:prstGeom>
          <a:solidFill>
            <a:srgbClr val="EDECEA"/>
          </a:solidFill>
          <a:ln/>
        </p:spPr>
      </p:sp>
      <p:sp>
        <p:nvSpPr>
          <p:cNvPr id="13" name="Text 11"/>
          <p:cNvSpPr/>
          <p:nvPr/>
        </p:nvSpPr>
        <p:spPr>
          <a:xfrm>
            <a:off x="6696075" y="4059436"/>
            <a:ext cx="4142899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485"/>
              </a:lnSpc>
              <a:buNone/>
            </a:pPr>
            <a:r>
              <a:rPr lang="en-US" sz="1875" dirty="0">
                <a:solidFill>
                  <a:srgbClr val="040413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прямой запрос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6486525" y="4654748"/>
            <a:ext cx="4429125" cy="652463"/>
          </a:xfrm>
          <a:prstGeom prst="roundRect">
            <a:avLst>
              <a:gd name="adj" fmla="val 20438"/>
            </a:avLst>
          </a:prstGeom>
          <a:solidFill>
            <a:srgbClr val="EDECEA"/>
          </a:solidFill>
          <a:ln/>
        </p:spPr>
      </p:sp>
      <p:sp>
        <p:nvSpPr>
          <p:cNvPr id="15" name="Text 13"/>
          <p:cNvSpPr/>
          <p:nvPr/>
        </p:nvSpPr>
        <p:spPr>
          <a:xfrm>
            <a:off x="6696075" y="4826198"/>
            <a:ext cx="4142899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485"/>
              </a:lnSpc>
              <a:buNone/>
            </a:pPr>
            <a:r>
              <a:rPr lang="en-US" sz="1875" dirty="0">
                <a:solidFill>
                  <a:srgbClr val="040413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ссылка на полномочия</a:t>
            </a:r>
            <a:endParaRPr lang="en-US" sz="1875" dirty="0"/>
          </a:p>
        </p:txBody>
      </p:sp>
      <p:sp>
        <p:nvSpPr>
          <p:cNvPr id="16" name="Shape 14"/>
          <p:cNvSpPr/>
          <p:nvPr/>
        </p:nvSpPr>
        <p:spPr>
          <a:xfrm>
            <a:off x="6486525" y="5421511"/>
            <a:ext cx="4429125" cy="652463"/>
          </a:xfrm>
          <a:prstGeom prst="roundRect">
            <a:avLst>
              <a:gd name="adj" fmla="val 20438"/>
            </a:avLst>
          </a:prstGeom>
          <a:solidFill>
            <a:srgbClr val="EDECEA"/>
          </a:solidFill>
          <a:ln/>
        </p:spPr>
      </p:sp>
      <p:sp>
        <p:nvSpPr>
          <p:cNvPr id="17" name="Text 15"/>
          <p:cNvSpPr/>
          <p:nvPr/>
        </p:nvSpPr>
        <p:spPr>
          <a:xfrm>
            <a:off x="6696075" y="5592961"/>
            <a:ext cx="4142899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485"/>
              </a:lnSpc>
              <a:buNone/>
            </a:pPr>
            <a:r>
              <a:rPr lang="en-US" sz="1875" dirty="0">
                <a:solidFill>
                  <a:srgbClr val="040413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сравнение клиентов</a:t>
            </a:r>
            <a:endParaRPr lang="en-US" sz="1875" dirty="0"/>
          </a:p>
        </p:txBody>
      </p:sp>
      <p:sp>
        <p:nvSpPr>
          <p:cNvPr id="18" name="Shape 16"/>
          <p:cNvSpPr/>
          <p:nvPr/>
        </p:nvSpPr>
        <p:spPr>
          <a:xfrm>
            <a:off x="6486525" y="6188273"/>
            <a:ext cx="4429125" cy="652463"/>
          </a:xfrm>
          <a:prstGeom prst="roundRect">
            <a:avLst>
              <a:gd name="adj" fmla="val 20438"/>
            </a:avLst>
          </a:prstGeom>
          <a:solidFill>
            <a:srgbClr val="EDECEA"/>
          </a:solidFill>
          <a:ln/>
        </p:spPr>
      </p:sp>
      <p:sp>
        <p:nvSpPr>
          <p:cNvPr id="19" name="Text 17"/>
          <p:cNvSpPr/>
          <p:nvPr/>
        </p:nvSpPr>
        <p:spPr>
          <a:xfrm>
            <a:off x="6696075" y="6359723"/>
            <a:ext cx="4142899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485"/>
              </a:lnSpc>
              <a:buNone/>
            </a:pPr>
            <a:r>
              <a:rPr lang="en-US" sz="1875" dirty="0">
                <a:solidFill>
                  <a:srgbClr val="040413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«проверка API»</a:t>
            </a:r>
            <a:endParaRPr lang="en-US" sz="1875" dirty="0"/>
          </a:p>
        </p:txBody>
      </p:sp>
      <p:sp>
        <p:nvSpPr>
          <p:cNvPr id="20" name="Shape 18"/>
          <p:cNvSpPr/>
          <p:nvPr/>
        </p:nvSpPr>
        <p:spPr>
          <a:xfrm>
            <a:off x="11525250" y="2028825"/>
            <a:ext cx="6153150" cy="6425580"/>
          </a:xfrm>
          <a:prstGeom prst="roundRect">
            <a:avLst>
              <a:gd name="adj" fmla="val 4954"/>
            </a:avLst>
          </a:prstGeom>
          <a:solidFill>
            <a:srgbClr val="121213"/>
          </a:solidFill>
          <a:ln/>
        </p:spPr>
      </p:sp>
      <p:sp>
        <p:nvSpPr>
          <p:cNvPr id="21" name="Text 19"/>
          <p:cNvSpPr/>
          <p:nvPr/>
        </p:nvSpPr>
        <p:spPr>
          <a:xfrm>
            <a:off x="11944350" y="2447925"/>
            <a:ext cx="584644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spc="113" kern="0" dirty="0">
                <a:solidFill>
                  <a:srgbClr val="EF31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 · EVIDENCE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944350" y="2886075"/>
            <a:ext cx="5846445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52"/>
              </a:lnSpc>
              <a:buNone/>
            </a:pPr>
            <a:r>
              <a:rPr lang="en-US" sz="2400" b="1" dirty="0">
                <a:solidFill>
                  <a:srgbClr val="FFFFFF">
                    <a:alpha val="94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Фактический журнал вызова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11944350" y="3491805"/>
            <a:ext cx="5314950" cy="3476699"/>
          </a:xfrm>
          <a:prstGeom prst="roundRect">
            <a:avLst>
              <a:gd name="adj" fmla="val 4383"/>
            </a:avLst>
          </a:prstGeom>
          <a:solidFill>
            <a:srgbClr val="D6D6E5">
              <a:alpha val="7000"/>
            </a:srgbClr>
          </a:solidFill>
          <a:ln w="19050">
            <a:solidFill>
              <a:srgbClr val="E7E7F8">
                <a:alpha val="18000"/>
              </a:srgbClr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12187825" y="4843463"/>
            <a:ext cx="4827999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6667"/>
              </a:lnSpc>
              <a:buNone/>
            </a:pPr>
            <a:r>
              <a:rPr lang="en-US" sz="1800" dirty="0">
                <a:solidFill>
                  <a:srgbClr val="EEEEFB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кадр access log из реального run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2036888" y="5296793"/>
            <a:ext cx="512980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6667"/>
              </a:lnSpc>
              <a:buNone/>
            </a:pPr>
            <a:r>
              <a:rPr lang="en-US" sz="1800" dirty="0">
                <a:solidFill>
                  <a:srgbClr val="E9E9FA">
                    <a:alpha val="37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видны оба cus · вставить до защиты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1944350" y="7178055"/>
            <a:ext cx="5474399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924"/>
              </a:lnSpc>
              <a:buNone/>
            </a:pPr>
            <a:r>
              <a:rPr lang="en-US" sz="2250" dirty="0">
                <a:solidFill>
                  <a:srgbClr val="FFFFFF">
                    <a:alpha val="94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actor cus=1001 → tool argument cus=</a:t>
            </a:r>
            <a:pPr algn="l" indent="0" marL="0">
              <a:lnSpc>
                <a:spcPct val="113924"/>
              </a:lnSpc>
              <a:buNone/>
            </a:pPr>
            <a:r>
              <a:rPr lang="en-US" sz="2250" dirty="0">
                <a:solidFill>
                  <a:srgbClr val="EF31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1002</a:t>
            </a:r>
            <a:endParaRPr lang="en-US" sz="2250" dirty="0"/>
          </a:p>
        </p:txBody>
      </p:sp>
      <p:sp>
        <p:nvSpPr>
          <p:cNvPr id="27" name="Shape 25"/>
          <p:cNvSpPr/>
          <p:nvPr/>
        </p:nvSpPr>
        <p:spPr>
          <a:xfrm>
            <a:off x="609600" y="8721105"/>
            <a:ext cx="17068800" cy="956295"/>
          </a:xfrm>
          <a:prstGeom prst="roundRect">
            <a:avLst>
              <a:gd name="adj" fmla="val 23905"/>
            </a:avLst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1066800" y="9037290"/>
            <a:ext cx="500382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927"/>
              </a:lnSpc>
              <a:buNone/>
            </a:pPr>
            <a:r>
              <a:rPr lang="en-US" sz="2550" b="1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4 из 4 доказанных BAC-атак</a:t>
            </a:r>
            <a:endParaRPr lang="en-US" sz="2550" dirty="0"/>
          </a:p>
        </p:txBody>
      </p:sp>
      <p:sp>
        <p:nvSpPr>
          <p:cNvPr id="29" name="Text 27"/>
          <p:cNvSpPr/>
          <p:nvPr/>
        </p:nvSpPr>
        <p:spPr>
          <a:xfrm>
            <a:off x="5920532" y="9056340"/>
            <a:ext cx="1885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949"/>
              </a:lnSpc>
              <a:buNone/>
            </a:pPr>
            <a:r>
              <a:rPr lang="en-US" sz="2250" dirty="0">
                <a:solidFill>
                  <a:srgbClr val="EF31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ASR = 100%</a:t>
            </a:r>
            <a:endParaRPr lang="en-US" sz="2250" dirty="0"/>
          </a:p>
        </p:txBody>
      </p:sp>
      <p:sp>
        <p:nvSpPr>
          <p:cNvPr id="30" name="Text 28"/>
          <p:cNvSpPr/>
          <p:nvPr/>
        </p:nvSpPr>
        <p:spPr>
          <a:xfrm>
            <a:off x="7939832" y="9025905"/>
            <a:ext cx="9316626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507"/>
              </a:lnSpc>
              <a:buNone/>
            </a:pPr>
            <a:r>
              <a:rPr lang="en-US" sz="1950" dirty="0">
                <a:solidFill>
                  <a:srgbClr val="05081D">
                    <a:alpha val="3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режим vulnerable · учебный стенд с синтетическими данными</a:t>
            </a:r>
            <a:endParaRPr lang="en-US" sz="1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609600"/>
            <a:ext cx="13735050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750" b="1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Архитектура текущей системы: от конфигурации цели к state-based verdict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17137335" y="1524000"/>
            <a:ext cx="38866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spc="150" kern="0" dirty="0">
                <a:solidFill>
                  <a:srgbClr val="05081D">
                    <a:alpha val="3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09600" y="1981200"/>
            <a:ext cx="10020300" cy="7696200"/>
          </a:xfrm>
          <a:prstGeom prst="roundRect">
            <a:avLst>
              <a:gd name="adj" fmla="val 3960"/>
            </a:avLst>
          </a:prstGeom>
          <a:solidFill>
            <a:srgbClr val="121213"/>
          </a:solidFill>
          <a:ln/>
        </p:spPr>
      </p:sp>
      <p:sp>
        <p:nvSpPr>
          <p:cNvPr id="5" name="Text 3"/>
          <p:cNvSpPr/>
          <p:nvPr/>
        </p:nvSpPr>
        <p:spPr>
          <a:xfrm>
            <a:off x="990600" y="2286000"/>
            <a:ext cx="1018413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spc="113" kern="0" dirty="0">
                <a:solidFill>
                  <a:srgbClr val="E9E9FA">
                    <a:alpha val="37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РЕАЛИЗОВАННЫЙ PIPELINE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90600" y="2647950"/>
            <a:ext cx="9258300" cy="514350"/>
          </a:xfrm>
          <a:prstGeom prst="roundRect">
            <a:avLst>
              <a:gd name="adj" fmla="val 25926"/>
            </a:avLst>
          </a:prstGeom>
          <a:solidFill>
            <a:srgbClr val="D6D6E5">
              <a:alpha val="7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181100" y="2762250"/>
            <a:ext cx="915504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238"/>
              </a:lnSpc>
              <a:buNone/>
            </a:pPr>
            <a:r>
              <a:rPr lang="en-US" sz="1800" dirty="0">
                <a:solidFill>
                  <a:srgbClr val="FFFFFF">
                    <a:alpha val="94000"/>
                  </a:srgbClr>
                </a:solidFill>
                <a:highlight>
                  <a:srgbClr val="FCFCFD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Описание цели </a:t>
            </a:r>
            <a:pPr algn="l" indent="0" marL="0">
              <a:lnSpc>
                <a:spcPct val="95238"/>
              </a:lnSpc>
              <a:buNone/>
            </a:pPr>
            <a:r>
              <a:rPr lang="en-US" sz="1800" dirty="0">
                <a:solidFill>
                  <a:srgbClr val="E9E9FA">
                    <a:alpha val="37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архитектура + system card + config/target.yaml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238250" y="3238500"/>
            <a:ext cx="19050" cy="114300"/>
          </a:xfrm>
          <a:prstGeom prst="rect">
            <a:avLst/>
          </a:prstGeom>
          <a:solidFill>
            <a:srgbClr val="E9E9FA">
              <a:alpha val="37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90600" y="3429000"/>
            <a:ext cx="9258300" cy="514350"/>
          </a:xfrm>
          <a:prstGeom prst="roundRect">
            <a:avLst>
              <a:gd name="adj" fmla="val 25926"/>
            </a:avLst>
          </a:prstGeom>
          <a:solidFill>
            <a:srgbClr val="D6D6E5">
              <a:alpha val="7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181100" y="3543300"/>
            <a:ext cx="915504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238"/>
              </a:lnSpc>
              <a:buNone/>
            </a:pPr>
            <a:r>
              <a:rPr lang="en-US" sz="1800" dirty="0">
                <a:solidFill>
                  <a:srgbClr val="FFFFFF">
                    <a:alpha val="94000"/>
                  </a:srgbClr>
                </a:solidFill>
                <a:highlight>
                  <a:srgbClr val="FCFCFD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Preflight: doctor </a:t>
            </a:r>
            <a:pPr algn="l" indent="0" marL="0">
              <a:lnSpc>
                <a:spcPct val="95238"/>
              </a:lnSpc>
              <a:buNone/>
            </a:pPr>
            <a:r>
              <a:rPr lang="en-US" sz="1800" dirty="0">
                <a:solidFill>
                  <a:srgbClr val="E9E9FA">
                    <a:alpha val="37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проверка стенда и конфигурации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238250" y="4019550"/>
            <a:ext cx="19050" cy="114300"/>
          </a:xfrm>
          <a:prstGeom prst="rect">
            <a:avLst/>
          </a:prstGeom>
          <a:solidFill>
            <a:srgbClr val="E9E9FA">
              <a:alpha val="37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90600" y="4210050"/>
            <a:ext cx="9258300" cy="514350"/>
          </a:xfrm>
          <a:prstGeom prst="roundRect">
            <a:avLst>
              <a:gd name="adj" fmla="val 25926"/>
            </a:avLst>
          </a:prstGeom>
          <a:solidFill>
            <a:srgbClr val="D6D6E5">
              <a:alpha val="7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181100" y="4324350"/>
            <a:ext cx="915504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238"/>
              </a:lnSpc>
              <a:buNone/>
            </a:pPr>
            <a:r>
              <a:rPr lang="en-US" sz="1800" dirty="0">
                <a:solidFill>
                  <a:srgbClr val="FFFFFF">
                    <a:alpha val="94000"/>
                  </a:srgbClr>
                </a:solidFill>
                <a:highlight>
                  <a:srgbClr val="FCFCFD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Scenario layer </a:t>
            </a:r>
            <a:pPr algn="l" indent="0" marL="0">
              <a:lnSpc>
                <a:spcPct val="95238"/>
              </a:lnSpc>
              <a:buNone/>
            </a:pPr>
            <a:r>
              <a:rPr lang="en-US" sz="1800" dirty="0">
                <a:solidFill>
                  <a:srgbClr val="E9E9FA">
                    <a:alpha val="37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YAML-каталог + adaptive BAC generator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238250" y="4800600"/>
            <a:ext cx="19050" cy="114300"/>
          </a:xfrm>
          <a:prstGeom prst="rect">
            <a:avLst/>
          </a:prstGeom>
          <a:solidFill>
            <a:srgbClr val="E9E9FA">
              <a:alpha val="37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990600" y="4991100"/>
            <a:ext cx="9258300" cy="514350"/>
          </a:xfrm>
          <a:prstGeom prst="roundRect">
            <a:avLst>
              <a:gd name="adj" fmla="val 25926"/>
            </a:avLst>
          </a:prstGeom>
          <a:solidFill>
            <a:srgbClr val="D6D6E5">
              <a:alpha val="7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181100" y="5105400"/>
            <a:ext cx="915504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238"/>
              </a:lnSpc>
              <a:buNone/>
            </a:pPr>
            <a:r>
              <a:rPr lang="en-US" sz="1800" dirty="0">
                <a:solidFill>
                  <a:srgbClr val="FFFFFF">
                    <a:alpha val="94000"/>
                  </a:srgbClr>
                </a:solidFill>
                <a:highlight>
                  <a:srgbClr val="FCFCFD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Scenario Runner </a:t>
            </a:r>
            <a:pPr algn="l" indent="0" marL="0">
              <a:lnSpc>
                <a:spcPct val="95238"/>
              </a:lnSpc>
              <a:buNone/>
            </a:pPr>
            <a:r>
              <a:rPr lang="en-US" sz="1800" dirty="0">
                <a:solidFill>
                  <a:srgbClr val="E9E9FA">
                    <a:alpha val="37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роли + сессии + шаги + попытки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238250" y="5581650"/>
            <a:ext cx="19050" cy="114300"/>
          </a:xfrm>
          <a:prstGeom prst="rect">
            <a:avLst/>
          </a:prstGeom>
          <a:solidFill>
            <a:srgbClr val="E9E9FA">
              <a:alpha val="37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990600" y="5772150"/>
            <a:ext cx="9258300" cy="514350"/>
          </a:xfrm>
          <a:prstGeom prst="roundRect">
            <a:avLst>
              <a:gd name="adj" fmla="val 25926"/>
            </a:avLst>
          </a:prstGeom>
          <a:solidFill>
            <a:srgbClr val="D6D6E5">
              <a:alpha val="7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181100" y="5886450"/>
            <a:ext cx="915504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238"/>
              </a:lnSpc>
              <a:buNone/>
            </a:pPr>
            <a:r>
              <a:rPr lang="en-US" sz="1800" dirty="0">
                <a:solidFill>
                  <a:srgbClr val="FFFFFF">
                    <a:alpha val="94000"/>
                  </a:srgbClr>
                </a:solidFill>
                <a:highlight>
                  <a:srgbClr val="FCFCFD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Target stand </a:t>
            </a:r>
            <a:pPr algn="l" indent="0" marL="0">
              <a:lnSpc>
                <a:spcPct val="95238"/>
              </a:lnSpc>
              <a:buNone/>
            </a:pPr>
            <a:r>
              <a:rPr lang="en-US" sz="1800" dirty="0">
                <a:solidFill>
                  <a:srgbClr val="E9E9FA">
                    <a:alpha val="37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agent-api → ReAct agent → memory / MCP tools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238250" y="6362700"/>
            <a:ext cx="19050" cy="114300"/>
          </a:xfrm>
          <a:prstGeom prst="rect">
            <a:avLst/>
          </a:prstGeom>
          <a:solidFill>
            <a:srgbClr val="EF3124"/>
          </a:solidFill>
          <a:ln/>
        </p:spPr>
      </p:sp>
      <p:sp>
        <p:nvSpPr>
          <p:cNvPr id="21" name="Shape 19"/>
          <p:cNvSpPr/>
          <p:nvPr/>
        </p:nvSpPr>
        <p:spPr>
          <a:xfrm>
            <a:off x="990600" y="6553200"/>
            <a:ext cx="9258300" cy="514350"/>
          </a:xfrm>
          <a:prstGeom prst="roundRect">
            <a:avLst>
              <a:gd name="adj" fmla="val 25926"/>
            </a:avLst>
          </a:prstGeom>
          <a:solidFill>
            <a:srgbClr val="EF3124"/>
          </a:solidFill>
          <a:ln/>
        </p:spPr>
      </p:sp>
      <p:sp>
        <p:nvSpPr>
          <p:cNvPr id="22" name="Text 20"/>
          <p:cNvSpPr/>
          <p:nvPr/>
        </p:nvSpPr>
        <p:spPr>
          <a:xfrm>
            <a:off x="1181100" y="6667500"/>
            <a:ext cx="915504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238"/>
              </a:lnSpc>
              <a:buNone/>
            </a:pPr>
            <a:r>
              <a:rPr lang="en-US" sz="1800" dirty="0">
                <a:solidFill>
                  <a:srgbClr val="FFFFFF"/>
                </a:solidFill>
                <a:highlight>
                  <a:srgbClr val="EF3124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State Tracer </a:t>
            </a:r>
            <a:pPr algn="l" indent="0" marL="0">
              <a:lnSpc>
                <a:spcPct val="95238"/>
              </a:lnSpc>
              <a:buNone/>
            </a:pPr>
            <a:r>
              <a:rPr lang="en-US" sz="1800" dirty="0">
                <a:solidFill>
                  <a:srgbClr val="FFFFFF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memory snapshot + журнал tool calls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238250" y="7143750"/>
            <a:ext cx="19050" cy="114300"/>
          </a:xfrm>
          <a:prstGeom prst="rect">
            <a:avLst/>
          </a:prstGeom>
          <a:solidFill>
            <a:srgbClr val="EF3124"/>
          </a:solidFill>
          <a:ln/>
        </p:spPr>
      </p:sp>
      <p:sp>
        <p:nvSpPr>
          <p:cNvPr id="24" name="Shape 22"/>
          <p:cNvSpPr/>
          <p:nvPr/>
        </p:nvSpPr>
        <p:spPr>
          <a:xfrm>
            <a:off x="990600" y="7334250"/>
            <a:ext cx="9258300" cy="514350"/>
          </a:xfrm>
          <a:prstGeom prst="roundRect">
            <a:avLst>
              <a:gd name="adj" fmla="val 25926"/>
            </a:avLst>
          </a:prstGeom>
          <a:solidFill>
            <a:srgbClr val="EF3124"/>
          </a:solidFill>
          <a:ln/>
        </p:spPr>
      </p:sp>
      <p:sp>
        <p:nvSpPr>
          <p:cNvPr id="25" name="Text 23"/>
          <p:cNvSpPr/>
          <p:nvPr/>
        </p:nvSpPr>
        <p:spPr>
          <a:xfrm>
            <a:off x="1181100" y="7448550"/>
            <a:ext cx="915504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238"/>
              </a:lnSpc>
              <a:buNone/>
            </a:pPr>
            <a:r>
              <a:rPr lang="en-US" sz="1800" dirty="0">
                <a:solidFill>
                  <a:srgbClr val="FFFFFF"/>
                </a:solidFill>
                <a:highlight>
                  <a:srgbClr val="EF3124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Deterministic Scorer </a:t>
            </a:r>
            <a:pPr algn="l" indent="0" marL="0">
              <a:lnSpc>
                <a:spcPct val="95238"/>
              </a:lnSpc>
              <a:buNone/>
            </a:pPr>
            <a:r>
              <a:rPr lang="en-US" sz="1800" dirty="0">
                <a:solidFill>
                  <a:srgbClr val="FFFFFF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assertions → ASR → finding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238250" y="7924800"/>
            <a:ext cx="19050" cy="114300"/>
          </a:xfrm>
          <a:prstGeom prst="rect">
            <a:avLst/>
          </a:prstGeom>
          <a:solidFill>
            <a:srgbClr val="E9E9FA">
              <a:alpha val="37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990600" y="8115300"/>
            <a:ext cx="9258300" cy="514350"/>
          </a:xfrm>
          <a:prstGeom prst="roundRect">
            <a:avLst>
              <a:gd name="adj" fmla="val 25926"/>
            </a:avLst>
          </a:prstGeom>
          <a:solidFill>
            <a:srgbClr val="D6D6E5">
              <a:alpha val="7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1181100" y="8229600"/>
            <a:ext cx="915504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238"/>
              </a:lnSpc>
              <a:buNone/>
            </a:pPr>
            <a:r>
              <a:rPr lang="en-US" sz="1800" dirty="0">
                <a:solidFill>
                  <a:srgbClr val="FFFFFF">
                    <a:alpha val="94000"/>
                  </a:srgbClr>
                </a:solidFill>
                <a:highlight>
                  <a:srgbClr val="FCFCFD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Run storage &amp; report </a:t>
            </a:r>
            <a:pPr algn="l" indent="0" marL="0">
              <a:lnSpc>
                <a:spcPct val="95238"/>
              </a:lnSpc>
              <a:buNone/>
            </a:pPr>
            <a:r>
              <a:rPr lang="en-US" sz="1800" dirty="0">
                <a:solidFill>
                  <a:srgbClr val="E9E9FA">
                    <a:alpha val="37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runs/&lt;run-id&gt;: JSON evidence + Markdown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0820400" y="1981200"/>
            <a:ext cx="6858000" cy="2726531"/>
          </a:xfrm>
          <a:prstGeom prst="roundRect">
            <a:avLst>
              <a:gd name="adj" fmla="val 11179"/>
            </a:avLst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11163300" y="2247900"/>
            <a:ext cx="678942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spc="113" kern="0" dirty="0">
                <a:solidFill>
                  <a:srgbClr val="05081D">
                    <a:alpha val="3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СТАТУС УЗЛОВ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1163300" y="2590800"/>
            <a:ext cx="6789420" cy="3643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1875" dirty="0">
                <a:solidFill>
                  <a:srgbClr val="12121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adaptive BAC generator </a:t>
            </a:r>
            <a:pPr algn="l" indent="0" marL="0">
              <a:lnSpc>
                <a:spcPct val="112500"/>
              </a:lnSpc>
              <a:buNone/>
            </a:pPr>
            <a:r>
              <a:rPr lang="en-US" sz="1875" dirty="0">
                <a:solidFill>
                  <a:srgbClr val="040413">
                    <a:alpha val="55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— сейчас покрывает BAC</a:t>
            </a:r>
            <a:endParaRPr lang="en-US" sz="1875" dirty="0"/>
          </a:p>
        </p:txBody>
      </p:sp>
      <p:sp>
        <p:nvSpPr>
          <p:cNvPr id="32" name="Text 30"/>
          <p:cNvSpPr/>
          <p:nvPr/>
        </p:nvSpPr>
        <p:spPr>
          <a:xfrm>
            <a:off x="11163300" y="3031331"/>
            <a:ext cx="6357366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1875" dirty="0">
                <a:solidFill>
                  <a:srgbClr val="12121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State Tracer </a:t>
            </a:r>
            <a:pPr algn="l" indent="0" marL="0">
              <a:lnSpc>
                <a:spcPct val="112500"/>
              </a:lnSpc>
              <a:buNone/>
            </a:pPr>
            <a:r>
              <a:rPr lang="en-US" sz="1875" dirty="0">
                <a:solidFill>
                  <a:srgbClr val="040413">
                    <a:alpha val="55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— адаптирован к MongoDB и access log учебного стенда</a:t>
            </a:r>
            <a:endParaRPr lang="en-US" sz="1875" dirty="0"/>
          </a:p>
        </p:txBody>
      </p:sp>
      <p:sp>
        <p:nvSpPr>
          <p:cNvPr id="33" name="Text 31"/>
          <p:cNvSpPr/>
          <p:nvPr/>
        </p:nvSpPr>
        <p:spPr>
          <a:xfrm>
            <a:off x="11163300" y="3793331"/>
            <a:ext cx="6357366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1875" dirty="0">
                <a:solidFill>
                  <a:srgbClr val="12121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Deterministic Scorer </a:t>
            </a:r>
            <a:pPr algn="l" indent="0" marL="0">
              <a:lnSpc>
                <a:spcPct val="112500"/>
              </a:lnSpc>
              <a:buNone/>
            </a:pPr>
            <a:r>
              <a:rPr lang="en-US" sz="1875" dirty="0">
                <a:solidFill>
                  <a:srgbClr val="040413">
                    <a:alpha val="55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— источник verdict, а не LLM-судья</a:t>
            </a:r>
            <a:endParaRPr lang="en-US" sz="1875" dirty="0"/>
          </a:p>
        </p:txBody>
      </p:sp>
      <p:sp>
        <p:nvSpPr>
          <p:cNvPr id="34" name="Shape 32"/>
          <p:cNvSpPr/>
          <p:nvPr/>
        </p:nvSpPr>
        <p:spPr>
          <a:xfrm>
            <a:off x="10820400" y="4898231"/>
            <a:ext cx="6858000" cy="3243783"/>
          </a:xfrm>
          <a:prstGeom prst="roundRect">
            <a:avLst>
              <a:gd name="adj" fmla="val 9396"/>
            </a:avLst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11125200" y="5126831"/>
            <a:ext cx="687324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spc="113" kern="0" dirty="0">
                <a:solidFill>
                  <a:srgbClr val="05081D">
                    <a:alpha val="3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УЖЕ РЕАЛИЗОВАНО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1125200" y="5450681"/>
            <a:ext cx="6435852" cy="1002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1875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YAML-сценарии, adaptive BAC, multi-user / multi-session Runner, memory snapshots, access log, assertions, ASR, артефакты запуска</a:t>
            </a:r>
            <a:endParaRPr lang="en-US" sz="1875" dirty="0"/>
          </a:p>
        </p:txBody>
      </p:sp>
      <p:sp>
        <p:nvSpPr>
          <p:cNvPr id="37" name="Shape 35"/>
          <p:cNvSpPr/>
          <p:nvPr/>
        </p:nvSpPr>
        <p:spPr>
          <a:xfrm>
            <a:off x="11125200" y="6510338"/>
            <a:ext cx="6248400" cy="19050"/>
          </a:xfrm>
          <a:prstGeom prst="rect">
            <a:avLst/>
          </a:prstGeom>
          <a:solidFill>
            <a:srgbClr val="EDECEA"/>
          </a:solidFill>
          <a:ln/>
        </p:spPr>
      </p:sp>
      <p:sp>
        <p:nvSpPr>
          <p:cNvPr id="38" name="Text 36"/>
          <p:cNvSpPr/>
          <p:nvPr/>
        </p:nvSpPr>
        <p:spPr>
          <a:xfrm>
            <a:off x="11125200" y="6624638"/>
            <a:ext cx="687324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spc="113" kern="0" dirty="0">
                <a:solidFill>
                  <a:srgbClr val="EF31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СЛЕДУЮЩАЯ ЗАДАЧА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1125200" y="6948488"/>
            <a:ext cx="6435852" cy="1002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1875" dirty="0">
                <a:solidFill>
                  <a:srgbClr val="040413">
                    <a:alpha val="55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Универсальные target/state adapters, автоматическое построение модели угроз, live-подтверждение memory lifecycle</a:t>
            </a:r>
            <a:endParaRPr lang="en-US" sz="1875" dirty="0"/>
          </a:p>
        </p:txBody>
      </p:sp>
      <p:sp>
        <p:nvSpPr>
          <p:cNvPr id="40" name="Shape 38"/>
          <p:cNvSpPr/>
          <p:nvPr/>
        </p:nvSpPr>
        <p:spPr>
          <a:xfrm>
            <a:off x="10820400" y="8332515"/>
            <a:ext cx="6858000" cy="1344885"/>
          </a:xfrm>
          <a:prstGeom prst="roundRect">
            <a:avLst>
              <a:gd name="adj" fmla="val 16998"/>
            </a:avLst>
          </a:prstGeom>
          <a:solidFill>
            <a:srgbClr val="EDECEA"/>
          </a:solidFill>
          <a:ln/>
        </p:spPr>
      </p:sp>
      <p:sp>
        <p:nvSpPr>
          <p:cNvPr id="41" name="Text 39"/>
          <p:cNvSpPr/>
          <p:nvPr/>
        </p:nvSpPr>
        <p:spPr>
          <a:xfrm>
            <a:off x="11125200" y="8542065"/>
            <a:ext cx="6435852" cy="963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857"/>
              </a:lnSpc>
              <a:buNone/>
            </a:pPr>
            <a:r>
              <a:rPr lang="en-US" sz="1800" dirty="0">
                <a:solidFill>
                  <a:srgbClr val="040413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CLI и Streamlit UI используют один pipeline. Langfuse опционален и не участвует в security-verdict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609600"/>
            <a:ext cx="13735050" cy="1272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692"/>
              </a:lnSpc>
              <a:buNone/>
            </a:pPr>
            <a:r>
              <a:rPr lang="en-US" sz="4050" b="1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Сначала определяем наблюдаемый эффект — и только затем считаем ASR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17137335" y="1615380"/>
            <a:ext cx="38866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spc="150" kern="0" dirty="0">
                <a:solidFill>
                  <a:srgbClr val="05081D">
                    <a:alpha val="3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09600" y="2110680"/>
            <a:ext cx="4953000" cy="2828925"/>
          </a:xfrm>
          <a:prstGeom prst="roundRect">
            <a:avLst>
              <a:gd name="adj" fmla="val 10774"/>
            </a:avLst>
          </a:prstGeom>
          <a:solidFill>
            <a:srgbClr val="121213"/>
          </a:solidFill>
          <a:ln/>
        </p:spPr>
      </p:sp>
      <p:sp>
        <p:nvSpPr>
          <p:cNvPr id="5" name="Text 3"/>
          <p:cNvSpPr/>
          <p:nvPr/>
        </p:nvSpPr>
        <p:spPr>
          <a:xfrm>
            <a:off x="1066800" y="2567880"/>
            <a:ext cx="444246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spc="113" kern="0" dirty="0">
                <a:solidFill>
                  <a:srgbClr val="E9E9FA">
                    <a:alpha val="37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ТЕКУЩАЯ МЕТРИКА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66800" y="3025080"/>
            <a:ext cx="4159758" cy="1495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607"/>
              </a:lnSpc>
              <a:buNone/>
            </a:pPr>
            <a:r>
              <a:rPr lang="en-US" sz="2550" dirty="0">
                <a:solidFill>
                  <a:srgbClr val="FFFFFF">
                    <a:alpha val="94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ASR = </a:t>
            </a:r>
            <a:pPr algn="l" indent="0" marL="0">
              <a:lnSpc>
                <a:spcPct val="114607"/>
              </a:lnSpc>
              <a:buNone/>
            </a:pPr>
            <a:r>
              <a:rPr lang="en-US" sz="2550" dirty="0">
                <a:solidFill>
                  <a:srgbClr val="EF31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доказанные успешные попытки </a:t>
            </a:r>
            <a:pPr algn="l" indent="0" marL="0">
              <a:lnSpc>
                <a:spcPct val="114607"/>
              </a:lnSpc>
              <a:buNone/>
            </a:pPr>
            <a:r>
              <a:rPr lang="en-US" sz="2550" dirty="0">
                <a:solidFill>
                  <a:srgbClr val="FFFFFF">
                    <a:alpha val="94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 завершённые попытки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609600" y="5130105"/>
            <a:ext cx="4953000" cy="2762250"/>
          </a:xfrm>
          <a:prstGeom prst="roundRect">
            <a:avLst>
              <a:gd name="adj" fmla="val 11034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066800" y="5587305"/>
            <a:ext cx="4159758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spc="113" kern="0" dirty="0">
                <a:solidFill>
                  <a:srgbClr val="05081D">
                    <a:alpha val="3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СОСТАВНАЯ МЕТРИКА ДЛЯ ПАМЯТИ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66800" y="6235005"/>
            <a:ext cx="4159758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514"/>
              </a:lnSpc>
              <a:buNone/>
            </a:pPr>
            <a:r>
              <a:rPr lang="en-US" sz="2100" dirty="0">
                <a:solidFill>
                  <a:srgbClr val="12121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доставка → запись → сохранение → извлечение → действие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609600" y="8082855"/>
            <a:ext cx="4953000" cy="1996380"/>
          </a:xfrm>
          <a:custGeom>
            <a:avLst/>
            <a:gdLst/>
            <a:ahLst/>
            <a:cxnLst/>
            <a:rect l="l" t="t" r="r" b="b"/>
            <a:pathLst>
              <a:path w="4953000" h="1996380">
                <a:moveTo>
                  <a:pt x="0" y="0"/>
                </a:moveTo>
                <a:lnTo>
                  <a:pt x="4724400" y="0"/>
                </a:lnTo>
                <a:arcTo hR="228600" wR="228600" stAng="16200000" swAng="5400000"/>
                <a:lnTo>
                  <a:pt x="4953000" y="1767780"/>
                </a:lnTo>
                <a:arcTo hR="228600" wR="228600" stAng="0" swAng="5400000"/>
                <a:lnTo>
                  <a:pt x="0" y="19963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609600" y="8082855"/>
            <a:ext cx="76200" cy="1996380"/>
          </a:xfrm>
          <a:prstGeom prst="rect">
            <a:avLst/>
          </a:prstGeom>
          <a:solidFill>
            <a:srgbClr val="EF3124"/>
          </a:solidFill>
          <a:ln/>
        </p:spPr>
      </p:sp>
      <p:sp>
        <p:nvSpPr>
          <p:cNvPr id="12" name="Text 10"/>
          <p:cNvSpPr/>
          <p:nvPr/>
        </p:nvSpPr>
        <p:spPr>
          <a:xfrm>
            <a:off x="1066800" y="8387655"/>
            <a:ext cx="4238244" cy="1424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419"/>
              </a:lnSpc>
              <a:buNone/>
            </a:pPr>
            <a:r>
              <a:rPr lang="en-US" sz="1950" dirty="0">
                <a:solidFill>
                  <a:srgbClr val="040413">
                    <a:alpha val="55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Ограничение: LLM-судья не используется как источник истины; его надёжность остаётся рискованной AI-гипотезой.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5753100" y="2110680"/>
            <a:ext cx="11925300" cy="7566720"/>
          </a:xfrm>
          <a:prstGeom prst="roundRect">
            <a:avLst>
              <a:gd name="adj" fmla="val 4028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6134100" y="2491680"/>
            <a:ext cx="44005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spc="113" kern="0" dirty="0">
                <a:solidFill>
                  <a:srgbClr val="05081D">
                    <a:alpha val="3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ЭТАП АТАКИ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363200" y="2491680"/>
            <a:ext cx="762762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spc="113" kern="0" dirty="0">
                <a:solidFill>
                  <a:srgbClr val="EF31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ЧТО СЧИТАЕМ ДОКАЗАТЕЛЬСТВОМ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34100" y="2872680"/>
            <a:ext cx="11163300" cy="19050"/>
          </a:xfrm>
          <a:prstGeom prst="rect">
            <a:avLst/>
          </a:prstGeom>
          <a:solidFill>
            <a:srgbClr val="EDECEA"/>
          </a:solidFill>
          <a:ln/>
        </p:spPr>
      </p:sp>
      <p:sp>
        <p:nvSpPr>
          <p:cNvPr id="17" name="Text 15"/>
          <p:cNvSpPr/>
          <p:nvPr/>
        </p:nvSpPr>
        <p:spPr>
          <a:xfrm>
            <a:off x="6134100" y="3044130"/>
            <a:ext cx="4120515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b="1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Нарушение доступа через инструмент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0363200" y="3044130"/>
            <a:ext cx="7142226" cy="7609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613"/>
              </a:lnSpc>
              <a:buNone/>
            </a:pPr>
            <a:r>
              <a:rPr lang="en-US" sz="1950" dirty="0">
                <a:solidFill>
                  <a:srgbClr val="040413">
                    <a:alpha val="55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Identity атакующего не совпадает с </a:t>
            </a:r>
            <a:pPr algn="l" indent="0" marL="0">
              <a:lnSpc>
                <a:spcPct val="121613"/>
              </a:lnSpc>
              <a:buNone/>
            </a:pPr>
            <a:r>
              <a:rPr lang="en-US" sz="1950" dirty="0">
                <a:solidFill>
                  <a:srgbClr val="12121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cus </a:t>
            </a:r>
            <a:pPr algn="l" indent="0" marL="0">
              <a:lnSpc>
                <a:spcPct val="121613"/>
              </a:lnSpc>
              <a:buNone/>
            </a:pPr>
            <a:r>
              <a:rPr lang="en-US" sz="1950" dirty="0">
                <a:solidFill>
                  <a:srgbClr val="040413">
                    <a:alpha val="55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в фактическом tool call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6134100" y="3919389"/>
            <a:ext cx="11163300" cy="19050"/>
          </a:xfrm>
          <a:prstGeom prst="rect">
            <a:avLst/>
          </a:prstGeom>
          <a:solidFill>
            <a:srgbClr val="EDECEA"/>
          </a:solidFill>
          <a:ln/>
        </p:spPr>
      </p:sp>
      <p:sp>
        <p:nvSpPr>
          <p:cNvPr id="20" name="Text 18"/>
          <p:cNvSpPr/>
          <p:nvPr/>
        </p:nvSpPr>
        <p:spPr>
          <a:xfrm>
            <a:off x="6134100" y="4090839"/>
            <a:ext cx="4400550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b="1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Запись в память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0363200" y="4090839"/>
            <a:ext cx="7142226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613"/>
              </a:lnSpc>
              <a:buNone/>
            </a:pPr>
            <a:r>
              <a:rPr lang="en-US" sz="1950" dirty="0">
                <a:solidFill>
                  <a:srgbClr val="040413">
                    <a:alpha val="55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Snapshot показывает нужную запись и её scope / provenance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6134100" y="4961334"/>
            <a:ext cx="11163300" cy="19050"/>
          </a:xfrm>
          <a:prstGeom prst="rect">
            <a:avLst/>
          </a:prstGeom>
          <a:solidFill>
            <a:srgbClr val="EDECEA"/>
          </a:solidFill>
          <a:ln/>
        </p:spPr>
      </p:sp>
      <p:sp>
        <p:nvSpPr>
          <p:cNvPr id="23" name="Text 21"/>
          <p:cNvSpPr/>
          <p:nvPr/>
        </p:nvSpPr>
        <p:spPr>
          <a:xfrm>
            <a:off x="6134100" y="5132784"/>
            <a:ext cx="4400550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b="1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Межсессионное извлечение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10363200" y="5132784"/>
            <a:ext cx="7142226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613"/>
              </a:lnSpc>
              <a:buNone/>
            </a:pPr>
            <a:r>
              <a:rPr lang="en-US" sz="1950" dirty="0">
                <a:solidFill>
                  <a:srgbClr val="040413">
                    <a:alpha val="55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Другой пользователь получает след ранее записанной policy / memory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6134100" y="6003280"/>
            <a:ext cx="11163300" cy="19050"/>
          </a:xfrm>
          <a:prstGeom prst="rect">
            <a:avLst/>
          </a:prstGeom>
          <a:solidFill>
            <a:srgbClr val="EDECEA"/>
          </a:solidFill>
          <a:ln/>
        </p:spPr>
      </p:sp>
      <p:sp>
        <p:nvSpPr>
          <p:cNvPr id="26" name="Text 24"/>
          <p:cNvSpPr/>
          <p:nvPr/>
        </p:nvSpPr>
        <p:spPr>
          <a:xfrm>
            <a:off x="6134100" y="6174730"/>
            <a:ext cx="4400550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b="1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Вредное действие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10363200" y="6174730"/>
            <a:ext cx="7142226" cy="11152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613"/>
              </a:lnSpc>
              <a:buNone/>
            </a:pPr>
            <a:r>
              <a:rPr lang="en-US" sz="1950" dirty="0">
                <a:solidFill>
                  <a:srgbClr val="040413">
                    <a:alpha val="55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Память или контекст причинно связаны с некорректным tool call либо иным проверяемым side effect</a:t>
            </a:r>
            <a:endParaRPr lang="en-US" sz="1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638175"/>
            <a:ext cx="635771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spc="150" kern="0" dirty="0">
                <a:solidFill>
                  <a:srgbClr val="05081D">
                    <a:alpha val="3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 · ТЕКУЩИЙ ПОДТВЕРЖДЁННЫЙ РЕЗУЛЬТАТ</a:t>
            </a:r>
            <a:endParaRPr lang="en-US" sz="1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960328" y="609600"/>
            <a:ext cx="285750" cy="285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379428" y="638175"/>
            <a:ext cx="114657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759"/>
              </a:lnSpc>
              <a:buNone/>
            </a:pPr>
            <a:r>
              <a:rPr lang="en-US" sz="1800" b="1" spc="300" kern="0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MOROK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609600" y="1123950"/>
            <a:ext cx="9048750" cy="7265715"/>
          </a:xfrm>
          <a:prstGeom prst="roundRect">
            <a:avLst>
              <a:gd name="adj" fmla="val 4195"/>
            </a:avLst>
          </a:prstGeom>
          <a:solidFill>
            <a:srgbClr val="121213"/>
          </a:solidFill>
          <a:ln/>
        </p:spPr>
      </p:sp>
      <p:sp>
        <p:nvSpPr>
          <p:cNvPr id="6" name="Text 3"/>
          <p:cNvSpPr/>
          <p:nvPr/>
        </p:nvSpPr>
        <p:spPr>
          <a:xfrm>
            <a:off x="1219200" y="3510930"/>
            <a:ext cx="8612505" cy="194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333"/>
              </a:lnSpc>
              <a:buNone/>
            </a:pPr>
            <a:r>
              <a:rPr lang="en-US" sz="15000" b="1" spc="-450" kern="0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4</a:t>
            </a:r>
            <a:pPr algn="l" indent="0" marL="0">
              <a:lnSpc>
                <a:spcPct val="83333"/>
              </a:lnSpc>
              <a:buNone/>
            </a:pPr>
            <a:r>
              <a:rPr lang="en-US" sz="15000" b="1" spc="-450" kern="0" dirty="0">
                <a:solidFill>
                  <a:srgbClr val="EF3124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/</a:t>
            </a:r>
            <a:pPr algn="l" indent="0" marL="0">
              <a:lnSpc>
                <a:spcPct val="83333"/>
              </a:lnSpc>
              <a:buNone/>
            </a:pPr>
            <a:r>
              <a:rPr lang="en-US" sz="15000" b="1" spc="-450" kern="0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4</a:t>
            </a:r>
            <a:endParaRPr lang="en-US" sz="15000" dirty="0"/>
          </a:p>
        </p:txBody>
      </p:sp>
      <p:sp>
        <p:nvSpPr>
          <p:cNvPr id="7" name="Text 4"/>
          <p:cNvSpPr/>
          <p:nvPr/>
        </p:nvSpPr>
        <p:spPr>
          <a:xfrm>
            <a:off x="1219200" y="5606430"/>
            <a:ext cx="8612505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52"/>
              </a:lnSpc>
              <a:buNone/>
            </a:pPr>
            <a:r>
              <a:rPr lang="en-US" sz="2400" dirty="0">
                <a:solidFill>
                  <a:srgbClr val="EEEEFB">
                    <a:alpha val="55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доказанные BAC-атаки · ASR = 100%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9848850" y="1123950"/>
            <a:ext cx="7829550" cy="5595119"/>
          </a:xfrm>
          <a:prstGeom prst="roundRect">
            <a:avLst>
              <a:gd name="adj" fmla="val 5448"/>
            </a:avLst>
          </a:prstGeom>
          <a:solidFill>
            <a:srgbClr val="FFFFFF"/>
          </a:solidFill>
          <a:ln/>
        </p:spPr>
      </p:sp>
      <p:sp>
        <p:nvSpPr>
          <p:cNvPr id="9" name="Text 6"/>
          <p:cNvSpPr/>
          <p:nvPr/>
        </p:nvSpPr>
        <p:spPr>
          <a:xfrm>
            <a:off x="10306050" y="3226147"/>
            <a:ext cx="760666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dirty="0">
                <a:solidFill>
                  <a:srgbClr val="05081D">
                    <a:alpha val="3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Подтверждённый факт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0306050" y="3645247"/>
            <a:ext cx="7122605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607"/>
              </a:lnSpc>
              <a:buNone/>
            </a:pPr>
            <a:r>
              <a:rPr lang="en-US" sz="2550" dirty="0">
                <a:solidFill>
                  <a:srgbClr val="12121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actor cus=1001 → tool argument cus=</a:t>
            </a:r>
            <a:pPr algn="l" indent="0" marL="0">
              <a:lnSpc>
                <a:spcPct val="114607"/>
              </a:lnSpc>
              <a:buNone/>
            </a:pPr>
            <a:r>
              <a:rPr lang="en-US" sz="2550" dirty="0">
                <a:solidFill>
                  <a:srgbClr val="EF31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1002</a:t>
            </a:r>
            <a:endParaRPr lang="en-US" sz="2550" dirty="0"/>
          </a:p>
        </p:txBody>
      </p:sp>
      <p:sp>
        <p:nvSpPr>
          <p:cNvPr id="11" name="Shape 8"/>
          <p:cNvSpPr/>
          <p:nvPr/>
        </p:nvSpPr>
        <p:spPr>
          <a:xfrm>
            <a:off x="9848850" y="6909569"/>
            <a:ext cx="7829550" cy="1480096"/>
          </a:xfrm>
          <a:prstGeom prst="roundRect">
            <a:avLst>
              <a:gd name="adj" fmla="val 20593"/>
            </a:avLst>
          </a:prstGeom>
          <a:solidFill>
            <a:srgbClr val="EDECEA"/>
          </a:solidFill>
          <a:ln/>
        </p:spPr>
      </p:sp>
      <p:sp>
        <p:nvSpPr>
          <p:cNvPr id="12" name="Text 9"/>
          <p:cNvSpPr/>
          <p:nvPr/>
        </p:nvSpPr>
        <p:spPr>
          <a:xfrm>
            <a:off x="10306050" y="7290569"/>
            <a:ext cx="7122605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613"/>
              </a:lnSpc>
              <a:buNone/>
            </a:pPr>
            <a:r>
              <a:rPr lang="en-US" sz="1950" dirty="0">
                <a:solidFill>
                  <a:srgbClr val="040413">
                    <a:alpha val="55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4 YAML-сценария · 77 автоматических тестов — инженерная готовность, не customer traction</a:t>
            </a:r>
            <a:endParaRPr lang="en-US" sz="1950" dirty="0"/>
          </a:p>
        </p:txBody>
      </p:sp>
      <p:sp>
        <p:nvSpPr>
          <p:cNvPr id="13" name="Shape 10"/>
          <p:cNvSpPr/>
          <p:nvPr/>
        </p:nvSpPr>
        <p:spPr>
          <a:xfrm>
            <a:off x="609600" y="8618265"/>
            <a:ext cx="17068800" cy="1059135"/>
          </a:xfrm>
          <a:custGeom>
            <a:avLst/>
            <a:gdLst/>
            <a:ahLst/>
            <a:cxnLst/>
            <a:rect l="l" t="t" r="r" b="b"/>
            <a:pathLst>
              <a:path w="17068800" h="1059135">
                <a:moveTo>
                  <a:pt x="0" y="0"/>
                </a:moveTo>
                <a:lnTo>
                  <a:pt x="16840200" y="0"/>
                </a:lnTo>
                <a:arcTo hR="228600" wR="228600" stAng="16200000" swAng="5400000"/>
                <a:lnTo>
                  <a:pt x="17068800" y="830535"/>
                </a:lnTo>
                <a:arcTo hR="228600" wR="228600" stAng="0" swAng="5400000"/>
                <a:lnTo>
                  <a:pt x="0" y="105913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Shape 11"/>
          <p:cNvSpPr/>
          <p:nvPr/>
        </p:nvSpPr>
        <p:spPr>
          <a:xfrm>
            <a:off x="609600" y="8618265"/>
            <a:ext cx="76200" cy="1059135"/>
          </a:xfrm>
          <a:prstGeom prst="rect">
            <a:avLst/>
          </a:prstGeom>
          <a:solidFill>
            <a:srgbClr val="EF3124"/>
          </a:solidFill>
          <a:ln/>
        </p:spPr>
      </p:sp>
      <p:sp>
        <p:nvSpPr>
          <p:cNvPr id="15" name="Text 12"/>
          <p:cNvSpPr/>
          <p:nvPr/>
        </p:nvSpPr>
        <p:spPr>
          <a:xfrm>
            <a:off x="1143000" y="8961165"/>
            <a:ext cx="17686020" cy="4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015"/>
              </a:lnSpc>
              <a:buNone/>
            </a:pPr>
            <a:r>
              <a:rPr lang="en-US" sz="2100" dirty="0">
                <a:solidFill>
                  <a:srgbClr val="040413">
                    <a:alpha val="55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Граница интерпретации: 1 класс атак × 1 учебный инвестиционный стенд × 4 попытки × намеренно уязвимый режим.</a:t>
            </a:r>
            <a:endParaRPr lang="en-US" sz="2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609600"/>
            <a:ext cx="13735050" cy="1272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692"/>
              </a:lnSpc>
              <a:buNone/>
            </a:pPr>
            <a:r>
              <a:rPr lang="en-US" sz="4050" b="1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Что должно стать правдой, чтобы это был продукт, а не разовое демо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17137335" y="1615380"/>
            <a:ext cx="38866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spc="150" kern="0" dirty="0">
                <a:solidFill>
                  <a:srgbClr val="05081D">
                    <a:alpha val="3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66800" y="2072580"/>
            <a:ext cx="12192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spc="113" kern="0" dirty="0">
                <a:solidFill>
                  <a:srgbClr val="05081D">
                    <a:alpha val="3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400300" y="2072580"/>
            <a:ext cx="597135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spc="113" kern="0" dirty="0">
                <a:solidFill>
                  <a:srgbClr val="05081D">
                    <a:alpha val="3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ГИПОТЕЗА DAY 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019306" y="2072580"/>
            <a:ext cx="551198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spc="113" kern="0" dirty="0">
                <a:solidFill>
                  <a:srgbClr val="05081D">
                    <a:alpha val="3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КАК ПРОВЕРЯЕМ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220700" y="2072580"/>
            <a:ext cx="44005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spc="113" kern="0" dirty="0">
                <a:solidFill>
                  <a:srgbClr val="EF31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СТАТУС СЕГОДНЯ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09600" y="2415480"/>
            <a:ext cx="17068800" cy="1151483"/>
          </a:xfrm>
          <a:prstGeom prst="roundRect">
            <a:avLst>
              <a:gd name="adj" fmla="val 19853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066800" y="2848347"/>
            <a:ext cx="12192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949"/>
              </a:lnSpc>
              <a:buNone/>
            </a:pPr>
            <a:r>
              <a:rPr lang="en-US" sz="2250" b="1" dirty="0">
                <a:solidFill>
                  <a:srgbClr val="12121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H1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2400300" y="2644080"/>
            <a:ext cx="5591361" cy="7323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154"/>
              </a:lnSpc>
              <a:buNone/>
            </a:pPr>
            <a:r>
              <a:rPr lang="en-US" sz="2025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Автоматизация увеличит покрытие и сократит время аудита</a:t>
            </a:r>
            <a:endParaRPr lang="en-US" sz="2025" dirty="0"/>
          </a:p>
        </p:txBody>
      </p:sp>
      <p:sp>
        <p:nvSpPr>
          <p:cNvPr id="11" name="Text 9"/>
          <p:cNvSpPr/>
          <p:nvPr/>
        </p:nvSpPr>
        <p:spPr>
          <a:xfrm>
            <a:off x="8019306" y="2657847"/>
            <a:ext cx="516122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1875" dirty="0">
                <a:solidFill>
                  <a:srgbClr val="040413">
                    <a:alpha val="55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Время, число и разнообразие сценариев, доля проверенных агентов</a:t>
            </a:r>
            <a:endParaRPr lang="en-US" sz="1875" dirty="0"/>
          </a:p>
        </p:txBody>
      </p:sp>
      <p:sp>
        <p:nvSpPr>
          <p:cNvPr id="12" name="Text 10"/>
          <p:cNvSpPr/>
          <p:nvPr/>
        </p:nvSpPr>
        <p:spPr>
          <a:xfrm>
            <a:off x="13220700" y="2836441"/>
            <a:ext cx="440055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485"/>
              </a:lnSpc>
              <a:buNone/>
            </a:pPr>
            <a:r>
              <a:rPr lang="en-US" sz="1875" dirty="0">
                <a:solidFill>
                  <a:srgbClr val="EF31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TODO · нет замера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609600" y="3681264"/>
            <a:ext cx="17068800" cy="1151483"/>
          </a:xfrm>
          <a:prstGeom prst="roundRect">
            <a:avLst>
              <a:gd name="adj" fmla="val 19853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066800" y="4114130"/>
            <a:ext cx="12192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949"/>
              </a:lnSpc>
              <a:buNone/>
            </a:pPr>
            <a:r>
              <a:rPr lang="en-US" sz="2250" b="1" dirty="0">
                <a:solidFill>
                  <a:srgbClr val="12121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H2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2400300" y="3909864"/>
            <a:ext cx="5591361" cy="7323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154"/>
              </a:lnSpc>
              <a:buNone/>
            </a:pPr>
            <a:r>
              <a:rPr lang="en-US" sz="2025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Архитектура и API улучшают релевантность атак</a:t>
            </a:r>
            <a:endParaRPr lang="en-US" sz="2025" dirty="0"/>
          </a:p>
        </p:txBody>
      </p:sp>
      <p:sp>
        <p:nvSpPr>
          <p:cNvPr id="16" name="Text 14"/>
          <p:cNvSpPr/>
          <p:nvPr/>
        </p:nvSpPr>
        <p:spPr>
          <a:xfrm>
            <a:off x="8019306" y="3923630"/>
            <a:ext cx="516122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1875" dirty="0">
                <a:solidFill>
                  <a:srgbClr val="040413">
                    <a:alpha val="55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Сравнить ASR и релевантность с документацией и без неё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13220700" y="4102224"/>
            <a:ext cx="440055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485"/>
              </a:lnSpc>
              <a:buNone/>
            </a:pPr>
            <a:r>
              <a:rPr lang="en-US" sz="1875" dirty="0">
                <a:solidFill>
                  <a:srgbClr val="EF31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TODO · нет сравнения</a:t>
            </a:r>
            <a:endParaRPr lang="en-US" sz="1875" dirty="0"/>
          </a:p>
        </p:txBody>
      </p:sp>
      <p:sp>
        <p:nvSpPr>
          <p:cNvPr id="18" name="Shape 16"/>
          <p:cNvSpPr/>
          <p:nvPr/>
        </p:nvSpPr>
        <p:spPr>
          <a:xfrm>
            <a:off x="609600" y="4947047"/>
            <a:ext cx="17068800" cy="1385888"/>
          </a:xfrm>
          <a:prstGeom prst="roundRect">
            <a:avLst>
              <a:gd name="adj" fmla="val 16495"/>
            </a:avLst>
          </a:prstGeom>
          <a:solidFill>
            <a:srgbClr val="121213"/>
          </a:solidFill>
          <a:ln/>
        </p:spPr>
      </p:sp>
      <p:sp>
        <p:nvSpPr>
          <p:cNvPr id="19" name="Text 17"/>
          <p:cNvSpPr/>
          <p:nvPr/>
        </p:nvSpPr>
        <p:spPr>
          <a:xfrm>
            <a:off x="1066800" y="5497116"/>
            <a:ext cx="12192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949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H3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2400300" y="5466383"/>
            <a:ext cx="5971356" cy="3852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154"/>
              </a:lnSpc>
              <a:buNone/>
            </a:pPr>
            <a:r>
              <a:rPr lang="en-US" sz="2025" dirty="0">
                <a:solidFill>
                  <a:srgbClr val="FFFFFF">
                    <a:alpha val="94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Evidence повышает доверие к находке</a:t>
            </a:r>
            <a:endParaRPr lang="en-US" sz="2025" dirty="0"/>
          </a:p>
        </p:txBody>
      </p:sp>
      <p:sp>
        <p:nvSpPr>
          <p:cNvPr id="21" name="Text 19"/>
          <p:cNvSpPr/>
          <p:nvPr/>
        </p:nvSpPr>
        <p:spPr>
          <a:xfrm>
            <a:off x="8019306" y="5306616"/>
            <a:ext cx="516122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1875" dirty="0">
                <a:solidFill>
                  <a:srgbClr val="EEEEFB">
                    <a:alpha val="55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Доля принятых заказчиком findings, false positives</a:t>
            </a:r>
            <a:endParaRPr lang="en-US" sz="1875" dirty="0"/>
          </a:p>
        </p:txBody>
      </p:sp>
      <p:sp>
        <p:nvSpPr>
          <p:cNvPr id="22" name="Text 20"/>
          <p:cNvSpPr/>
          <p:nvPr/>
        </p:nvSpPr>
        <p:spPr>
          <a:xfrm>
            <a:off x="13220700" y="5175647"/>
            <a:ext cx="4120515" cy="966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485"/>
              </a:lnSpc>
              <a:buNone/>
            </a:pPr>
            <a:r>
              <a:rPr lang="en-US" sz="1875" dirty="0">
                <a:solidFill>
                  <a:srgbClr val="FFFFFF">
                    <a:alpha val="94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Частично · state-based evidence реализован, внешней оценки нет</a:t>
            </a:r>
            <a:endParaRPr lang="en-US" sz="1875" dirty="0"/>
          </a:p>
        </p:txBody>
      </p:sp>
      <p:sp>
        <p:nvSpPr>
          <p:cNvPr id="23" name="Shape 21"/>
          <p:cNvSpPr/>
          <p:nvPr/>
        </p:nvSpPr>
        <p:spPr>
          <a:xfrm>
            <a:off x="609600" y="6447234"/>
            <a:ext cx="17068800" cy="1151483"/>
          </a:xfrm>
          <a:prstGeom prst="roundRect">
            <a:avLst>
              <a:gd name="adj" fmla="val 19853"/>
            </a:avLst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1066800" y="6880101"/>
            <a:ext cx="12192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949"/>
              </a:lnSpc>
              <a:buNone/>
            </a:pPr>
            <a:r>
              <a:rPr lang="en-US" sz="2250" b="1" dirty="0">
                <a:solidFill>
                  <a:srgbClr val="12121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H4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2400300" y="6675834"/>
            <a:ext cx="5591361" cy="7323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154"/>
              </a:lnSpc>
              <a:buNone/>
            </a:pPr>
            <a:r>
              <a:rPr lang="en-US" sz="2025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Найденная атака станет регулярной проверкой</a:t>
            </a:r>
            <a:endParaRPr lang="en-US" sz="2025" dirty="0"/>
          </a:p>
        </p:txBody>
      </p:sp>
      <p:sp>
        <p:nvSpPr>
          <p:cNvPr id="26" name="Text 24"/>
          <p:cNvSpPr/>
          <p:nvPr/>
        </p:nvSpPr>
        <p:spPr>
          <a:xfrm>
            <a:off x="8019306" y="6689601"/>
            <a:ext cx="516122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1875" dirty="0">
                <a:solidFill>
                  <a:srgbClr val="040413">
                    <a:alpha val="55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Доля изменений, прошедших retest; число повторных запусков</a:t>
            </a:r>
            <a:endParaRPr lang="en-US" sz="1875" dirty="0"/>
          </a:p>
        </p:txBody>
      </p:sp>
      <p:sp>
        <p:nvSpPr>
          <p:cNvPr id="27" name="Text 25"/>
          <p:cNvSpPr/>
          <p:nvPr/>
        </p:nvSpPr>
        <p:spPr>
          <a:xfrm>
            <a:off x="13220700" y="6713413"/>
            <a:ext cx="4120515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485"/>
              </a:lnSpc>
              <a:buNone/>
            </a:pPr>
            <a:r>
              <a:rPr lang="en-US" sz="1875" dirty="0">
                <a:solidFill>
                  <a:srgbClr val="EF31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TODO · нужен цикл на версии после фикса</a:t>
            </a:r>
            <a:endParaRPr lang="en-US" sz="1875" dirty="0"/>
          </a:p>
        </p:txBody>
      </p:sp>
      <p:sp>
        <p:nvSpPr>
          <p:cNvPr id="28" name="Shape 26"/>
          <p:cNvSpPr/>
          <p:nvPr/>
        </p:nvSpPr>
        <p:spPr>
          <a:xfrm>
            <a:off x="609600" y="7713018"/>
            <a:ext cx="17068800" cy="1123950"/>
          </a:xfrm>
          <a:prstGeom prst="roundRect">
            <a:avLst>
              <a:gd name="adj" fmla="val 20339"/>
            </a:avLst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1066800" y="8132118"/>
            <a:ext cx="12192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949"/>
              </a:lnSpc>
              <a:buNone/>
            </a:pPr>
            <a:r>
              <a:rPr lang="en-US" sz="2250" b="1" dirty="0">
                <a:solidFill>
                  <a:srgbClr val="12121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H5</a:t>
            </a:r>
            <a:endParaRPr lang="en-US" sz="2250" dirty="0"/>
          </a:p>
        </p:txBody>
      </p:sp>
      <p:sp>
        <p:nvSpPr>
          <p:cNvPr id="30" name="Text 28"/>
          <p:cNvSpPr/>
          <p:nvPr/>
        </p:nvSpPr>
        <p:spPr>
          <a:xfrm>
            <a:off x="2400300" y="8101385"/>
            <a:ext cx="5971356" cy="3852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154"/>
              </a:lnSpc>
              <a:buNone/>
            </a:pPr>
            <a:r>
              <a:rPr lang="en-US" sz="2025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Выбрать первый сегмент и упаковку</a:t>
            </a:r>
            <a:endParaRPr lang="en-US" sz="2025" dirty="0"/>
          </a:p>
        </p:txBody>
      </p:sp>
      <p:sp>
        <p:nvSpPr>
          <p:cNvPr id="31" name="Text 29"/>
          <p:cNvSpPr/>
          <p:nvPr/>
        </p:nvSpPr>
        <p:spPr>
          <a:xfrm>
            <a:off x="8019306" y="7941618"/>
            <a:ext cx="516122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1875" dirty="0">
                <a:solidFill>
                  <a:srgbClr val="040413">
                    <a:alpha val="55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Willingness to pay, пилот → контракт, цикл сделки</a:t>
            </a:r>
            <a:endParaRPr lang="en-US" sz="1875" dirty="0"/>
          </a:p>
        </p:txBody>
      </p:sp>
      <p:sp>
        <p:nvSpPr>
          <p:cNvPr id="32" name="Text 30"/>
          <p:cNvSpPr/>
          <p:nvPr/>
        </p:nvSpPr>
        <p:spPr>
          <a:xfrm>
            <a:off x="13220700" y="7965430"/>
            <a:ext cx="4120515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485"/>
              </a:lnSpc>
              <a:buNone/>
            </a:pPr>
            <a:r>
              <a:rPr lang="en-US" sz="1875" dirty="0">
                <a:solidFill>
                  <a:srgbClr val="EF31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TODO · 3 сегмента не ранжированы</a:t>
            </a:r>
            <a:endParaRPr lang="en-US" sz="1875" dirty="0"/>
          </a:p>
        </p:txBody>
      </p:sp>
      <p:sp>
        <p:nvSpPr>
          <p:cNvPr id="33" name="Shape 31"/>
          <p:cNvSpPr/>
          <p:nvPr/>
        </p:nvSpPr>
        <p:spPr>
          <a:xfrm>
            <a:off x="609600" y="8577263"/>
            <a:ext cx="17068800" cy="1100138"/>
          </a:xfrm>
          <a:prstGeom prst="roundRect">
            <a:avLst>
              <a:gd name="adj" fmla="val 20779"/>
            </a:avLst>
          </a:prstGeom>
          <a:solidFill>
            <a:srgbClr val="EDECEA"/>
          </a:solidFill>
          <a:ln/>
        </p:spPr>
      </p:sp>
      <p:sp>
        <p:nvSpPr>
          <p:cNvPr id="34" name="Text 32"/>
          <p:cNvSpPr/>
          <p:nvPr/>
        </p:nvSpPr>
        <p:spPr>
          <a:xfrm>
            <a:off x="1066800" y="8805863"/>
            <a:ext cx="16639032" cy="681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1875" dirty="0">
                <a:solidFill>
                  <a:srgbClr val="040413">
                    <a:alpha val="55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Сделанное discovery: 3 экспертных интервью подтвердили приоритет BAC, памяти, evidence и локального контура. Это направление, а не выручка или пилот.</a:t>
            </a:r>
            <a:endParaRPr lang="en-US" sz="187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609600"/>
            <a:ext cx="13735050" cy="1272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692"/>
              </a:lnSpc>
              <a:buNone/>
            </a:pPr>
            <a:r>
              <a:rPr lang="en-US" sz="4050" b="1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Известна цена альтернатив. Свою unit-экономику ещё нужно честно посчитать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17137335" y="1615380"/>
            <a:ext cx="38866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spc="150" kern="0" dirty="0">
                <a:solidFill>
                  <a:srgbClr val="05081D">
                    <a:alpha val="3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09600" y="2072580"/>
            <a:ext cx="5500688" cy="7604820"/>
          </a:xfrm>
          <a:prstGeom prst="roundRect">
            <a:avLst>
              <a:gd name="adj" fmla="val 5541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990600" y="2415480"/>
            <a:ext cx="521255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spc="113" kern="0" dirty="0">
                <a:solidFill>
                  <a:srgbClr val="05081D">
                    <a:alpha val="3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КТО ПЛАТИТ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90600" y="2815530"/>
            <a:ext cx="5212556" cy="4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015"/>
              </a:lnSpc>
              <a:buNone/>
            </a:pPr>
            <a:r>
              <a:rPr lang="en-US" sz="2100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CISO / ДКБ / риск-функция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90600" y="3226966"/>
            <a:ext cx="521255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1875" dirty="0">
                <a:solidFill>
                  <a:srgbClr val="040413">
                    <a:alpha val="55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за внутренний on-prem workflow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990600" y="3731791"/>
            <a:ext cx="4738688" cy="19050"/>
          </a:xfrm>
          <a:prstGeom prst="rect">
            <a:avLst/>
          </a:prstGeom>
          <a:solidFill>
            <a:srgbClr val="EDECEA"/>
          </a:solidFill>
          <a:ln/>
        </p:spPr>
      </p:sp>
      <p:sp>
        <p:nvSpPr>
          <p:cNvPr id="9" name="Text 7"/>
          <p:cNvSpPr/>
          <p:nvPr/>
        </p:nvSpPr>
        <p:spPr>
          <a:xfrm>
            <a:off x="990600" y="3922291"/>
            <a:ext cx="5212556" cy="4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015"/>
              </a:lnSpc>
              <a:buNone/>
            </a:pPr>
            <a:r>
              <a:rPr lang="en-US" sz="2100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Руководитель offensive security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90600" y="4333726"/>
            <a:ext cx="521255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1875" dirty="0">
                <a:solidFill>
                  <a:srgbClr val="040413">
                    <a:alpha val="55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за delivery и retest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990600" y="4838551"/>
            <a:ext cx="4738688" cy="19050"/>
          </a:xfrm>
          <a:prstGeom prst="rect">
            <a:avLst/>
          </a:prstGeom>
          <a:solidFill>
            <a:srgbClr val="EDECEA"/>
          </a:solidFill>
          <a:ln/>
        </p:spPr>
      </p:sp>
      <p:sp>
        <p:nvSpPr>
          <p:cNvPr id="12" name="Text 10"/>
          <p:cNvSpPr/>
          <p:nvPr/>
        </p:nvSpPr>
        <p:spPr>
          <a:xfrm>
            <a:off x="990600" y="5029051"/>
            <a:ext cx="5212556" cy="4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015"/>
              </a:lnSpc>
              <a:buNone/>
            </a:pPr>
            <a:r>
              <a:rPr lang="en-US" sz="2100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CTO / CPO / AI lead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90600" y="5440487"/>
            <a:ext cx="521255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1875" dirty="0">
                <a:solidFill>
                  <a:srgbClr val="040413">
                    <a:alpha val="55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за регулярную проверку с triage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6300788" y="2072580"/>
            <a:ext cx="5974556" cy="7604820"/>
          </a:xfrm>
          <a:prstGeom prst="roundRect">
            <a:avLst>
              <a:gd name="adj" fmla="val 5102"/>
            </a:avLst>
          </a:prstGeom>
          <a:solidFill>
            <a:srgbClr val="121213"/>
          </a:solidFill>
          <a:ln/>
        </p:spPr>
      </p:sp>
      <p:sp>
        <p:nvSpPr>
          <p:cNvPr id="15" name="Text 13"/>
          <p:cNvSpPr/>
          <p:nvPr/>
        </p:nvSpPr>
        <p:spPr>
          <a:xfrm>
            <a:off x="6681788" y="2415480"/>
            <a:ext cx="573381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spc="113" kern="0" dirty="0">
                <a:solidFill>
                  <a:srgbClr val="E9E9FA">
                    <a:alpha val="37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ЦЕНА ТЕКУЩИХ АЛЬТЕРНАТИВ · ФАКТ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681788" y="2815530"/>
            <a:ext cx="5733812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636"/>
              </a:lnSpc>
              <a:buNone/>
            </a:pPr>
            <a:r>
              <a:rPr lang="en-US" sz="3450" b="1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400–800 тыс. ₽</a:t>
            </a:r>
            <a:endParaRPr lang="en-US" sz="3450" dirty="0"/>
          </a:p>
        </p:txBody>
      </p:sp>
      <p:sp>
        <p:nvSpPr>
          <p:cNvPr id="17" name="Text 15"/>
          <p:cNvSpPr/>
          <p:nvPr/>
        </p:nvSpPr>
        <p:spPr>
          <a:xfrm>
            <a:off x="6681788" y="3310830"/>
            <a:ext cx="5368933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1875" dirty="0">
                <a:solidFill>
                  <a:srgbClr val="EEEEFB">
                    <a:alpha val="55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публичный agentic-аудит, 2–6 недель — один открытый прайс</a:t>
            </a:r>
            <a:endParaRPr lang="en-US" sz="1875" dirty="0"/>
          </a:p>
        </p:txBody>
      </p:sp>
      <p:sp>
        <p:nvSpPr>
          <p:cNvPr id="18" name="Shape 16"/>
          <p:cNvSpPr/>
          <p:nvPr/>
        </p:nvSpPr>
        <p:spPr>
          <a:xfrm>
            <a:off x="6681788" y="4149030"/>
            <a:ext cx="5212556" cy="19050"/>
          </a:xfrm>
          <a:prstGeom prst="rect">
            <a:avLst/>
          </a:prstGeom>
          <a:solidFill>
            <a:srgbClr val="E7E7F8">
              <a:alpha val="18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681788" y="4339530"/>
            <a:ext cx="5733812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636"/>
              </a:lnSpc>
              <a:buNone/>
            </a:pPr>
            <a:r>
              <a:rPr lang="en-US" sz="3450" b="1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~300–500 тыс. ₽</a:t>
            </a:r>
            <a:endParaRPr lang="en-US" sz="3450" dirty="0"/>
          </a:p>
        </p:txBody>
      </p:sp>
      <p:sp>
        <p:nvSpPr>
          <p:cNvPr id="20" name="Text 18"/>
          <p:cNvSpPr/>
          <p:nvPr/>
        </p:nvSpPr>
        <p:spPr>
          <a:xfrm>
            <a:off x="6681788" y="4834830"/>
            <a:ext cx="5368933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1875" dirty="0">
                <a:solidFill>
                  <a:srgbClr val="EEEEFB">
                    <a:alpha val="55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первичная экспертная оценка — оценка из интервью, не оферта</a:t>
            </a:r>
            <a:endParaRPr lang="en-US" sz="1875" dirty="0"/>
          </a:p>
        </p:txBody>
      </p:sp>
      <p:sp>
        <p:nvSpPr>
          <p:cNvPr id="21" name="Shape 19"/>
          <p:cNvSpPr/>
          <p:nvPr/>
        </p:nvSpPr>
        <p:spPr>
          <a:xfrm>
            <a:off x="6681788" y="5673030"/>
            <a:ext cx="5212556" cy="19050"/>
          </a:xfrm>
          <a:prstGeom prst="rect">
            <a:avLst/>
          </a:prstGeom>
          <a:solidFill>
            <a:srgbClr val="E7E7F8">
              <a:alpha val="18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681788" y="5863530"/>
            <a:ext cx="5733812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636"/>
              </a:lnSpc>
              <a:buNone/>
            </a:pPr>
            <a:r>
              <a:rPr lang="en-US" sz="3450" b="1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от $100/мес.</a:t>
            </a:r>
            <a:endParaRPr lang="en-US" sz="3450" dirty="0"/>
          </a:p>
        </p:txBody>
      </p:sp>
      <p:sp>
        <p:nvSpPr>
          <p:cNvPr id="23" name="Text 21"/>
          <p:cNvSpPr/>
          <p:nvPr/>
        </p:nvSpPr>
        <p:spPr>
          <a:xfrm>
            <a:off x="6681788" y="6358830"/>
            <a:ext cx="5368933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1875" dirty="0">
                <a:solidFill>
                  <a:srgbClr val="EEEEFB">
                    <a:alpha val="55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активный исследовательский агент плюс usage — не для контура банка</a:t>
            </a:r>
            <a:endParaRPr lang="en-US" sz="1875" dirty="0"/>
          </a:p>
        </p:txBody>
      </p:sp>
      <p:sp>
        <p:nvSpPr>
          <p:cNvPr id="24" name="Shape 22"/>
          <p:cNvSpPr/>
          <p:nvPr/>
        </p:nvSpPr>
        <p:spPr>
          <a:xfrm>
            <a:off x="12465844" y="2072580"/>
            <a:ext cx="5212556" cy="4205288"/>
          </a:xfrm>
          <a:prstGeom prst="roundRect">
            <a:avLst>
              <a:gd name="adj" fmla="val 7248"/>
            </a:avLst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12846844" y="2415480"/>
            <a:ext cx="3606907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spc="113" kern="0" dirty="0">
                <a:solidFill>
                  <a:srgbClr val="EF31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НАША КОММЕРЧЕСКАЯ ЕДИНИЦА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6482045" y="2453580"/>
            <a:ext cx="815355" cy="381000"/>
          </a:xfrm>
          <a:prstGeom prst="roundRect">
            <a:avLst>
              <a:gd name="adj" fmla="val 50000"/>
            </a:avLst>
          </a:prstGeom>
          <a:solidFill>
            <a:srgbClr val="EF3124"/>
          </a:solidFill>
          <a:ln/>
        </p:spPr>
      </p:sp>
      <p:sp>
        <p:nvSpPr>
          <p:cNvPr id="27" name="Text 25"/>
          <p:cNvSpPr/>
          <p:nvPr/>
        </p:nvSpPr>
        <p:spPr>
          <a:xfrm>
            <a:off x="16615395" y="2529780"/>
            <a:ext cx="62485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TODO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2846844" y="3025080"/>
            <a:ext cx="4584073" cy="1195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085"/>
              </a:lnSpc>
              <a:buNone/>
            </a:pPr>
            <a:r>
              <a:rPr lang="en-US" sz="2025" dirty="0">
                <a:solidFill>
                  <a:srgbClr val="12121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 агент × набор инструментов × кампания сценариев × evidence-отчёт × retest</a:t>
            </a:r>
            <a:endParaRPr lang="en-US" sz="2025" dirty="0"/>
          </a:p>
        </p:txBody>
      </p:sp>
      <p:sp>
        <p:nvSpPr>
          <p:cNvPr id="29" name="Shape 27"/>
          <p:cNvSpPr/>
          <p:nvPr/>
        </p:nvSpPr>
        <p:spPr>
          <a:xfrm>
            <a:off x="12846844" y="4334768"/>
            <a:ext cx="4450556" cy="19050"/>
          </a:xfrm>
          <a:prstGeom prst="rect">
            <a:avLst/>
          </a:prstGeom>
          <a:solidFill>
            <a:srgbClr val="EDECEA"/>
          </a:solidFill>
          <a:ln/>
        </p:spPr>
      </p:sp>
      <p:sp>
        <p:nvSpPr>
          <p:cNvPr id="30" name="Text 28"/>
          <p:cNvSpPr/>
          <p:nvPr/>
        </p:nvSpPr>
        <p:spPr>
          <a:xfrm>
            <a:off x="12846844" y="4506218"/>
            <a:ext cx="4584073" cy="146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636"/>
              </a:lnSpc>
              <a:buNone/>
            </a:pPr>
            <a:r>
              <a:rPr lang="en-US" sz="1875" dirty="0">
                <a:solidFill>
                  <a:srgbClr val="040413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Себестоимость кампании = LLM / compute + инфраструктура + время аналитика + поддержка адаптера</a:t>
            </a:r>
            <a:endParaRPr lang="en-US" sz="1875" dirty="0"/>
          </a:p>
        </p:txBody>
      </p:sp>
      <p:sp>
        <p:nvSpPr>
          <p:cNvPr id="31" name="Shape 29"/>
          <p:cNvSpPr/>
          <p:nvPr/>
        </p:nvSpPr>
        <p:spPr>
          <a:xfrm>
            <a:off x="12465844" y="6468368"/>
            <a:ext cx="5212556" cy="3209032"/>
          </a:xfrm>
          <a:prstGeom prst="roundRect">
            <a:avLst>
              <a:gd name="adj" fmla="val 9498"/>
            </a:avLst>
          </a:prstGeom>
          <a:solidFill>
            <a:srgbClr val="EDECEA"/>
          </a:solidFill>
          <a:ln/>
        </p:spPr>
      </p:sp>
      <p:sp>
        <p:nvSpPr>
          <p:cNvPr id="32" name="Text 30"/>
          <p:cNvSpPr/>
          <p:nvPr/>
        </p:nvSpPr>
        <p:spPr>
          <a:xfrm>
            <a:off x="12846844" y="6811268"/>
            <a:ext cx="489561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spc="113" kern="0" dirty="0">
                <a:solidFill>
                  <a:srgbClr val="05081D">
                    <a:alpha val="3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КАК СНИЖАЕМ COST ПОСЛЕ ПИЛОТА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2846844" y="7173218"/>
            <a:ext cx="4584073" cy="2181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75" dirty="0">
                <a:solidFill>
                  <a:srgbClr val="040413">
                    <a:alpha val="55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Библиотека и регрессия повторяют найденные сценарии · reusable адаптеры сокращают интеграцию · локальные модели снимают SaaS-риск · эксперт включается в triage, а не в каждую попытку</a:t>
            </a:r>
            <a:endParaRPr lang="en-US" sz="187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609600"/>
            <a:ext cx="13735050" cy="1272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692"/>
              </a:lnSpc>
              <a:buNone/>
            </a:pPr>
            <a:r>
              <a:rPr lang="en-US" sz="4050" b="1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ИИ ускоряет исследование. Человек задаёт рамки и проверяет claims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17137335" y="1615380"/>
            <a:ext cx="38866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spc="150" kern="0" dirty="0">
                <a:solidFill>
                  <a:srgbClr val="05081D">
                    <a:alpha val="3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09600" y="2072580"/>
            <a:ext cx="5562600" cy="2032546"/>
          </a:xfrm>
          <a:prstGeom prst="roundRect">
            <a:avLst>
              <a:gd name="adj" fmla="val 14996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990600" y="2377380"/>
            <a:ext cx="528066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spc="113" kern="0" dirty="0">
                <a:solidFill>
                  <a:srgbClr val="05081D">
                    <a:alpha val="3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ИВАН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90600" y="2720280"/>
            <a:ext cx="4944618" cy="1118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308"/>
              </a:lnSpc>
              <a:buNone/>
            </a:pPr>
            <a:r>
              <a:rPr lang="en-US" sz="2025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Исследование пользователей, гипотезы, дизайн и продуктовая часть</a:t>
            </a:r>
            <a:endParaRPr lang="en-US" sz="2025" dirty="0"/>
          </a:p>
        </p:txBody>
      </p:sp>
      <p:sp>
        <p:nvSpPr>
          <p:cNvPr id="7" name="Shape 5"/>
          <p:cNvSpPr/>
          <p:nvPr/>
        </p:nvSpPr>
        <p:spPr>
          <a:xfrm>
            <a:off x="6362700" y="2072580"/>
            <a:ext cx="5562600" cy="2032546"/>
          </a:xfrm>
          <a:prstGeom prst="roundRect">
            <a:avLst>
              <a:gd name="adj" fmla="val 14996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6743700" y="2377380"/>
            <a:ext cx="528066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spc="113" kern="0" dirty="0">
                <a:solidFill>
                  <a:srgbClr val="05081D">
                    <a:alpha val="3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ДАНИИЛ И ТАМЕРЛАН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743700" y="2720280"/>
            <a:ext cx="5280660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308"/>
              </a:lnSpc>
              <a:buNone/>
            </a:pPr>
            <a:r>
              <a:rPr lang="en-US" sz="2025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Техническая часть продукта</a:t>
            </a:r>
            <a:endParaRPr lang="en-US" sz="2025" dirty="0"/>
          </a:p>
        </p:txBody>
      </p:sp>
      <p:sp>
        <p:nvSpPr>
          <p:cNvPr id="10" name="Shape 8"/>
          <p:cNvSpPr/>
          <p:nvPr/>
        </p:nvSpPr>
        <p:spPr>
          <a:xfrm>
            <a:off x="12115800" y="2072580"/>
            <a:ext cx="5562600" cy="2032546"/>
          </a:xfrm>
          <a:prstGeom prst="roundRect">
            <a:avLst>
              <a:gd name="adj" fmla="val 14996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12496800" y="2377380"/>
            <a:ext cx="528066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spc="113" kern="0" dirty="0">
                <a:solidFill>
                  <a:srgbClr val="05081D">
                    <a:alpha val="3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КОМАНДА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496800" y="2720280"/>
            <a:ext cx="4944618" cy="1118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308"/>
              </a:lnSpc>
              <a:buNone/>
            </a:pPr>
            <a:r>
              <a:rPr lang="en-US" sz="2025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Утверждает scope, критерий успеха и то, какие утверждения можно вынести в презентацию</a:t>
            </a:r>
            <a:endParaRPr lang="en-US" sz="2025" dirty="0"/>
          </a:p>
        </p:txBody>
      </p:sp>
      <p:sp>
        <p:nvSpPr>
          <p:cNvPr id="13" name="Shape 11"/>
          <p:cNvSpPr/>
          <p:nvPr/>
        </p:nvSpPr>
        <p:spPr>
          <a:xfrm>
            <a:off x="609600" y="4333726"/>
            <a:ext cx="17068800" cy="381014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066800" y="4638526"/>
            <a:ext cx="44005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spc="113" kern="0" dirty="0">
                <a:solidFill>
                  <a:srgbClr val="05081D">
                    <a:alpha val="3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ЗАДАЧА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295900" y="4638526"/>
            <a:ext cx="584832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spc="113" kern="0" dirty="0">
                <a:solidFill>
                  <a:srgbClr val="05081D">
                    <a:alpha val="3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ИНСТРУМЕНТЫ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841162" y="4638526"/>
            <a:ext cx="701804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spc="113" kern="0" dirty="0">
                <a:solidFill>
                  <a:srgbClr val="EF31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КОНТРОЛЬ ЧЕЛОВЕКА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066800" y="5000476"/>
            <a:ext cx="16154400" cy="19050"/>
          </a:xfrm>
          <a:prstGeom prst="rect">
            <a:avLst/>
          </a:prstGeom>
          <a:solidFill>
            <a:srgbClr val="EDECEA"/>
          </a:solidFill>
          <a:ln/>
        </p:spPr>
      </p:sp>
      <p:sp>
        <p:nvSpPr>
          <p:cNvPr id="18" name="Text 16"/>
          <p:cNvSpPr/>
          <p:nvPr/>
        </p:nvSpPr>
        <p:spPr>
          <a:xfrm>
            <a:off x="1066800" y="5331916"/>
            <a:ext cx="4400550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b="1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Рынок и конкуренты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5295900" y="5338539"/>
            <a:ext cx="5848328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507"/>
              </a:lnSpc>
              <a:buNone/>
            </a:pPr>
            <a:r>
              <a:rPr lang="en-US" sz="1950" dirty="0">
                <a:solidFill>
                  <a:srgbClr val="040413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ChatGPT Deep Research, Perplexity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0841162" y="5152876"/>
            <a:ext cx="6571440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613"/>
              </a:lnSpc>
              <a:buNone/>
            </a:pPr>
            <a:r>
              <a:rPr lang="en-US" sz="1950" dirty="0">
                <a:solidFill>
                  <a:srgbClr val="040413">
                    <a:alpha val="55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Источники, сегментация и формулировки проверяются командой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1066800" y="6004322"/>
            <a:ext cx="16154400" cy="19050"/>
          </a:xfrm>
          <a:prstGeom prst="rect">
            <a:avLst/>
          </a:prstGeom>
          <a:solidFill>
            <a:srgbClr val="EDECEA"/>
          </a:solidFill>
          <a:ln/>
        </p:spPr>
      </p:sp>
      <p:sp>
        <p:nvSpPr>
          <p:cNvPr id="22" name="Text 20"/>
          <p:cNvSpPr/>
          <p:nvPr/>
        </p:nvSpPr>
        <p:spPr>
          <a:xfrm>
            <a:off x="1066800" y="6156722"/>
            <a:ext cx="4400550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b="1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Интервью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5295900" y="6163345"/>
            <a:ext cx="5848328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507"/>
              </a:lnSpc>
              <a:buNone/>
            </a:pPr>
            <a:r>
              <a:rPr lang="en-US" sz="1950" dirty="0">
                <a:solidFill>
                  <a:srgbClr val="040413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ChatGPT, Scribe AI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10841162" y="6157168"/>
            <a:ext cx="7018042" cy="397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613"/>
              </a:lnSpc>
              <a:buNone/>
            </a:pPr>
            <a:r>
              <a:rPr lang="en-US" sz="1950" dirty="0">
                <a:solidFill>
                  <a:srgbClr val="040413">
                    <a:alpha val="55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Выводы сверяются с транскриптами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1066800" y="6650087"/>
            <a:ext cx="16154400" cy="19050"/>
          </a:xfrm>
          <a:prstGeom prst="rect">
            <a:avLst/>
          </a:prstGeom>
          <a:solidFill>
            <a:srgbClr val="EDECEA"/>
          </a:solidFill>
          <a:ln/>
        </p:spPr>
      </p:sp>
      <p:sp>
        <p:nvSpPr>
          <p:cNvPr id="26" name="Text 24"/>
          <p:cNvSpPr/>
          <p:nvPr/>
        </p:nvSpPr>
        <p:spPr>
          <a:xfrm>
            <a:off x="1066800" y="6981527"/>
            <a:ext cx="4400550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b="1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Репозиторий и артефакты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5295900" y="6988150"/>
            <a:ext cx="5848328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507"/>
              </a:lnSpc>
              <a:buNone/>
            </a:pPr>
            <a:r>
              <a:rPr lang="en-US" sz="1950" dirty="0">
                <a:solidFill>
                  <a:srgbClr val="040413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10841162" y="6802487"/>
            <a:ext cx="6571440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613"/>
              </a:lnSpc>
              <a:buNone/>
            </a:pPr>
            <a:r>
              <a:rPr lang="en-US" sz="1950" dirty="0">
                <a:solidFill>
                  <a:srgbClr val="040413">
                    <a:alpha val="55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Инженерные результаты подтверждаются кодом, тестами и evidence</a:t>
            </a:r>
            <a:endParaRPr lang="en-US" sz="1950" dirty="0"/>
          </a:p>
        </p:txBody>
      </p:sp>
      <p:sp>
        <p:nvSpPr>
          <p:cNvPr id="29" name="Shape 27"/>
          <p:cNvSpPr/>
          <p:nvPr/>
        </p:nvSpPr>
        <p:spPr>
          <a:xfrm>
            <a:off x="609600" y="8372475"/>
            <a:ext cx="17068800" cy="1304925"/>
          </a:xfrm>
          <a:prstGeom prst="roundRect">
            <a:avLst>
              <a:gd name="adj" fmla="val 17518"/>
            </a:avLst>
          </a:prstGeom>
          <a:solidFill>
            <a:srgbClr val="121213"/>
          </a:solidFill>
          <a:ln/>
        </p:spPr>
      </p:sp>
      <p:sp>
        <p:nvSpPr>
          <p:cNvPr id="30" name="Text 28"/>
          <p:cNvSpPr/>
          <p:nvPr/>
        </p:nvSpPr>
        <p:spPr>
          <a:xfrm>
            <a:off x="1066800" y="8639175"/>
            <a:ext cx="16639032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2250" dirty="0">
                <a:solidFill>
                  <a:srgbClr val="FFFFFF">
                    <a:alpha val="94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В продукте тот же принцип: LLM расширяет поиск атак · </a:t>
            </a:r>
            <a:pPr algn="l" indent="0" marL="0">
              <a:lnSpc>
                <a:spcPct val="112500"/>
              </a:lnSpc>
              <a:buNone/>
            </a:pPr>
            <a:r>
              <a:rPr lang="en-US" sz="2250" dirty="0">
                <a:solidFill>
                  <a:srgbClr val="EF3124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code + state oracle подтверждают факт </a:t>
            </a:r>
            <a:pPr algn="l" indent="0" marL="0">
              <a:lnSpc>
                <a:spcPct val="112500"/>
              </a:lnSpc>
              <a:buNone/>
            </a:pPr>
            <a:r>
              <a:rPr lang="en-US" sz="2250" dirty="0">
                <a:solidFill>
                  <a:srgbClr val="FFFFFF">
                    <a:alpha val="94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· человек интерпретирует риск</a:t>
            </a:r>
            <a:endParaRPr lang="en-US" sz="2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609600"/>
            <a:ext cx="17068800" cy="2847975"/>
          </a:xfrm>
          <a:prstGeom prst="roundRect">
            <a:avLst>
              <a:gd name="adj" fmla="val 10702"/>
            </a:avLst>
          </a:prstGeom>
          <a:solidFill>
            <a:srgbClr val="121213"/>
          </a:solidFill>
          <a:ln/>
        </p:spPr>
      </p:sp>
      <p:sp>
        <p:nvSpPr>
          <p:cNvPr id="3" name="Text 1"/>
          <p:cNvSpPr/>
          <p:nvPr/>
        </p:nvSpPr>
        <p:spPr>
          <a:xfrm>
            <a:off x="1295400" y="1104900"/>
            <a:ext cx="12753975" cy="1895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FFFFFF">
                    <a:alpha val="94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Помогите проверить, что MOROK становится security workflow, а не остаётся учебным стендом</a:t>
            </a:r>
            <a:endParaRPr lang="en-US" sz="3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831690" y="1804988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460340" y="1871663"/>
            <a:ext cx="168548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927"/>
              </a:lnSpc>
              <a:buNone/>
            </a:pPr>
            <a:r>
              <a:rPr lang="en-US" sz="2550" b="1" spc="450" kern="0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MOROK</a:t>
            </a:r>
            <a:endParaRPr lang="en-US" sz="2550" dirty="0"/>
          </a:p>
        </p:txBody>
      </p:sp>
      <p:sp>
        <p:nvSpPr>
          <p:cNvPr id="6" name="Shape 3"/>
          <p:cNvSpPr/>
          <p:nvPr/>
        </p:nvSpPr>
        <p:spPr>
          <a:xfrm>
            <a:off x="609600" y="3686175"/>
            <a:ext cx="5562600" cy="4025503"/>
          </a:xfrm>
          <a:prstGeom prst="roundRect">
            <a:avLst>
              <a:gd name="adj" fmla="val 7572"/>
            </a:avLst>
          </a:prstGeom>
          <a:solidFill>
            <a:srgbClr val="FFFFFF"/>
          </a:solidFill>
          <a:ln/>
        </p:spPr>
      </p:sp>
      <p:sp>
        <p:nvSpPr>
          <p:cNvPr id="7" name="Text 4"/>
          <p:cNvSpPr/>
          <p:nvPr/>
        </p:nvSpPr>
        <p:spPr>
          <a:xfrm>
            <a:off x="990600" y="4067175"/>
            <a:ext cx="528066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472"/>
              </a:lnSpc>
              <a:buNone/>
            </a:pPr>
            <a:r>
              <a:rPr lang="en-US" sz="3000" b="1" dirty="0">
                <a:solidFill>
                  <a:srgbClr val="EF31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990600" y="4619625"/>
            <a:ext cx="4944618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448"/>
              </a:lnSpc>
              <a:buNone/>
            </a:pPr>
            <a:r>
              <a:rPr lang="en-US" sz="2700" b="1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Назвать 3–5 критичных effects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990600" y="5648325"/>
            <a:ext cx="4944618" cy="15296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462"/>
              </a:lnSpc>
              <a:buNone/>
            </a:pPr>
            <a:r>
              <a:rPr lang="en-US" sz="2025" dirty="0">
                <a:solidFill>
                  <a:srgbClr val="040413">
                    <a:alpha val="55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конкретного агента: что недопустимо для другого пользователя, данных или инструментов.</a:t>
            </a:r>
            <a:endParaRPr lang="en-US" sz="2025" dirty="0"/>
          </a:p>
        </p:txBody>
      </p:sp>
      <p:sp>
        <p:nvSpPr>
          <p:cNvPr id="10" name="Shape 7"/>
          <p:cNvSpPr/>
          <p:nvPr/>
        </p:nvSpPr>
        <p:spPr>
          <a:xfrm>
            <a:off x="6362700" y="3686175"/>
            <a:ext cx="5562600" cy="4025503"/>
          </a:xfrm>
          <a:prstGeom prst="roundRect">
            <a:avLst>
              <a:gd name="adj" fmla="val 7572"/>
            </a:avLst>
          </a:prstGeom>
          <a:solidFill>
            <a:srgbClr val="FFFFFF"/>
          </a:solidFill>
          <a:ln/>
        </p:spPr>
      </p:sp>
      <p:sp>
        <p:nvSpPr>
          <p:cNvPr id="11" name="Text 8"/>
          <p:cNvSpPr/>
          <p:nvPr/>
        </p:nvSpPr>
        <p:spPr>
          <a:xfrm>
            <a:off x="6743700" y="4067175"/>
            <a:ext cx="528066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472"/>
              </a:lnSpc>
              <a:buNone/>
            </a:pPr>
            <a:r>
              <a:rPr lang="en-US" sz="3000" b="1" dirty="0">
                <a:solidFill>
                  <a:srgbClr val="EF31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6743700" y="4619625"/>
            <a:ext cx="4944618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448"/>
              </a:lnSpc>
              <a:buNone/>
            </a:pPr>
            <a:r>
              <a:rPr lang="en-US" sz="2700" b="1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Дать авторизованный тестовый контур</a:t>
            </a:r>
            <a:endParaRPr lang="en-US" sz="2700" dirty="0"/>
          </a:p>
        </p:txBody>
      </p:sp>
      <p:sp>
        <p:nvSpPr>
          <p:cNvPr id="13" name="Text 10"/>
          <p:cNvSpPr/>
          <p:nvPr/>
        </p:nvSpPr>
        <p:spPr>
          <a:xfrm>
            <a:off x="6743700" y="5648325"/>
            <a:ext cx="4944618" cy="1156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462"/>
              </a:lnSpc>
              <a:buNone/>
            </a:pPr>
            <a:r>
              <a:rPr lang="en-US" sz="2025" dirty="0">
                <a:solidFill>
                  <a:srgbClr val="040413">
                    <a:alpha val="55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architecture / API / tool contract и хотя бы один наблюдаемый источник состояния или трасс.</a:t>
            </a:r>
            <a:endParaRPr lang="en-US" sz="2025" dirty="0"/>
          </a:p>
        </p:txBody>
      </p:sp>
      <p:sp>
        <p:nvSpPr>
          <p:cNvPr id="14" name="Shape 11"/>
          <p:cNvSpPr/>
          <p:nvPr/>
        </p:nvSpPr>
        <p:spPr>
          <a:xfrm>
            <a:off x="12115800" y="3686175"/>
            <a:ext cx="5562600" cy="4025503"/>
          </a:xfrm>
          <a:prstGeom prst="roundRect">
            <a:avLst>
              <a:gd name="adj" fmla="val 7572"/>
            </a:avLst>
          </a:prstGeom>
          <a:solidFill>
            <a:srgbClr val="FFFFFF"/>
          </a:solidFill>
          <a:ln/>
        </p:spPr>
      </p:sp>
      <p:sp>
        <p:nvSpPr>
          <p:cNvPr id="15" name="Text 12"/>
          <p:cNvSpPr/>
          <p:nvPr/>
        </p:nvSpPr>
        <p:spPr>
          <a:xfrm>
            <a:off x="12496800" y="4067175"/>
            <a:ext cx="528066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472"/>
              </a:lnSpc>
              <a:buNone/>
            </a:pPr>
            <a:r>
              <a:rPr lang="en-US" sz="3000" b="1" dirty="0">
                <a:solidFill>
                  <a:srgbClr val="EF31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12496800" y="4619625"/>
            <a:ext cx="528066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448"/>
              </a:lnSpc>
              <a:buNone/>
            </a:pPr>
            <a:r>
              <a:rPr lang="en-US" sz="2700" b="1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Проверить evidence-отчёт</a:t>
            </a:r>
            <a:endParaRPr lang="en-US" sz="2700" dirty="0"/>
          </a:p>
        </p:txBody>
      </p:sp>
      <p:sp>
        <p:nvSpPr>
          <p:cNvPr id="17" name="Text 14"/>
          <p:cNvSpPr/>
          <p:nvPr/>
        </p:nvSpPr>
        <p:spPr>
          <a:xfrm>
            <a:off x="12496800" y="5219700"/>
            <a:ext cx="4944618" cy="1156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462"/>
              </a:lnSpc>
              <a:buNone/>
            </a:pPr>
            <a:r>
              <a:rPr lang="en-US" sz="2025" dirty="0">
                <a:solidFill>
                  <a:srgbClr val="040413">
                    <a:alpha val="55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достаточно ли его, чтобы команда агента исправила риск и запустила retest.</a:t>
            </a:r>
            <a:endParaRPr lang="en-US" sz="2025" dirty="0"/>
          </a:p>
        </p:txBody>
      </p:sp>
      <p:sp>
        <p:nvSpPr>
          <p:cNvPr id="18" name="Shape 15"/>
          <p:cNvSpPr/>
          <p:nvPr/>
        </p:nvSpPr>
        <p:spPr>
          <a:xfrm>
            <a:off x="609600" y="7940278"/>
            <a:ext cx="13563600" cy="1737122"/>
          </a:xfrm>
          <a:prstGeom prst="roundRect">
            <a:avLst>
              <a:gd name="adj" fmla="val 13160"/>
            </a:avLst>
          </a:prstGeom>
          <a:solidFill>
            <a:srgbClr val="EDECEA"/>
          </a:solidFill>
          <a:ln/>
        </p:spPr>
      </p:sp>
      <p:sp>
        <p:nvSpPr>
          <p:cNvPr id="19" name="Text 16"/>
          <p:cNvSpPr/>
          <p:nvPr/>
        </p:nvSpPr>
        <p:spPr>
          <a:xfrm>
            <a:off x="1066800" y="8434536"/>
            <a:ext cx="13028676" cy="7867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015"/>
              </a:lnSpc>
              <a:buNone/>
            </a:pPr>
            <a:r>
              <a:rPr lang="en-US" sz="2100" dirty="0">
                <a:solidFill>
                  <a:srgbClr val="040413">
                    <a:alpha val="55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Следующий технический результат: </a:t>
            </a:r>
            <a:pPr algn="l" indent="0" marL="0">
              <a:lnSpc>
                <a:spcPct val="117015"/>
              </a:lnSpc>
              <a:buNone/>
            </a:pPr>
            <a:r>
              <a:rPr lang="en-US" sz="1950" dirty="0">
                <a:solidFill>
                  <a:srgbClr val="12121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memory lifecycle </a:t>
            </a:r>
            <a:pPr algn="l" indent="0" marL="0">
              <a:lnSpc>
                <a:spcPct val="117015"/>
              </a:lnSpc>
              <a:buNone/>
            </a:pPr>
            <a:r>
              <a:rPr lang="en-US" sz="2100" dirty="0">
                <a:solidFill>
                  <a:srgbClr val="040413">
                    <a:alpha val="55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— запись → сохранение → извлечение → действие в другой сессии</a:t>
            </a:r>
            <a:endParaRPr lang="en-US" sz="2100" dirty="0"/>
          </a:p>
        </p:txBody>
      </p:sp>
      <p:sp>
        <p:nvSpPr>
          <p:cNvPr id="20" name="Shape 17"/>
          <p:cNvSpPr/>
          <p:nvPr/>
        </p:nvSpPr>
        <p:spPr>
          <a:xfrm>
            <a:off x="14363700" y="7940278"/>
            <a:ext cx="3314700" cy="1737122"/>
          </a:xfrm>
          <a:prstGeom prst="roundRect">
            <a:avLst>
              <a:gd name="adj" fmla="val 13160"/>
            </a:avLst>
          </a:prstGeom>
          <a:solidFill>
            <a:srgbClr val="FFFFFF"/>
          </a:solidFill>
          <a:ln/>
        </p:spPr>
      </p:sp>
      <p:sp>
        <p:nvSpPr>
          <p:cNvPr id="21" name="Shape 18"/>
          <p:cNvSpPr/>
          <p:nvPr/>
        </p:nvSpPr>
        <p:spPr>
          <a:xfrm>
            <a:off x="14592300" y="8256389"/>
            <a:ext cx="1022152" cy="1104900"/>
          </a:xfrm>
          <a:prstGeom prst="roundRect">
            <a:avLst>
              <a:gd name="adj" fmla="val 11182"/>
            </a:avLst>
          </a:prstGeom>
          <a:solidFill>
            <a:srgbClr val="F6F5F3"/>
          </a:solidFill>
          <a:ln w="19050">
            <a:solidFill>
              <a:srgbClr val="D2D3D9"/>
            </a:solidFill>
            <a:prstDash val="dash"/>
          </a:ln>
        </p:spPr>
      </p:sp>
      <p:sp>
        <p:nvSpPr>
          <p:cNvPr id="22" name="Text 19"/>
          <p:cNvSpPr/>
          <p:nvPr/>
        </p:nvSpPr>
        <p:spPr>
          <a:xfrm>
            <a:off x="15804952" y="8168878"/>
            <a:ext cx="1721048" cy="1318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1800" dirty="0">
                <a:solidFill>
                  <a:srgbClr val="05081D">
                    <a:alpha val="3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QR GitHub / демо TODO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212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" y="3857625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809750" y="3933825"/>
            <a:ext cx="160477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117"/>
              </a:lnSpc>
              <a:buNone/>
            </a:pPr>
            <a:r>
              <a:rPr lang="en-US" sz="2400" b="1" spc="450" kern="0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MOROK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143000" y="4619625"/>
            <a:ext cx="17602200" cy="1085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333"/>
              </a:lnSpc>
              <a:buNone/>
            </a:pPr>
            <a:r>
              <a:rPr lang="en-US" sz="8250" b="1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Backup</a:t>
            </a:r>
            <a:endParaRPr lang="en-US" sz="8250" dirty="0"/>
          </a:p>
        </p:txBody>
      </p:sp>
      <p:sp>
        <p:nvSpPr>
          <p:cNvPr id="5" name="Text 2"/>
          <p:cNvSpPr/>
          <p:nvPr/>
        </p:nvSpPr>
        <p:spPr>
          <a:xfrm>
            <a:off x="1143000" y="5972175"/>
            <a:ext cx="176022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2400" dirty="0">
                <a:solidFill>
                  <a:srgbClr val="EEEEFB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разрыв ёмкости · конкуренты · себестоимость ручной проверки · модули MOROK</a:t>
            </a:r>
            <a:endParaRPr lang="en-US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609600"/>
            <a:ext cx="13735050" cy="1272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692"/>
              </a:lnSpc>
              <a:buNone/>
            </a:pPr>
            <a:r>
              <a:rPr lang="en-US" sz="4050" b="1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AS-IS: разрыв между входящим потоком и ёмкостью проверки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17137335" y="1615380"/>
            <a:ext cx="38866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spc="150" kern="0" dirty="0">
                <a:solidFill>
                  <a:srgbClr val="05081D">
                    <a:alpha val="3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B1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09600" y="2110680"/>
            <a:ext cx="8286750" cy="5760839"/>
          </a:xfrm>
          <a:prstGeom prst="roundRect">
            <a:avLst>
              <a:gd name="adj" fmla="val 5291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066800" y="2586930"/>
            <a:ext cx="3490972" cy="3852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154"/>
              </a:lnSpc>
              <a:buNone/>
            </a:pPr>
            <a:r>
              <a:rPr lang="en-US" sz="2025" dirty="0">
                <a:solidFill>
                  <a:srgbClr val="040413">
                    <a:alpha val="55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Специалистов в команде</a:t>
            </a:r>
            <a:endParaRPr lang="en-US" sz="2025" dirty="0"/>
          </a:p>
        </p:txBody>
      </p:sp>
      <p:sp>
        <p:nvSpPr>
          <p:cNvPr id="6" name="Text 4"/>
          <p:cNvSpPr/>
          <p:nvPr/>
        </p:nvSpPr>
        <p:spPr>
          <a:xfrm>
            <a:off x="8243367" y="2567880"/>
            <a:ext cx="27198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927"/>
              </a:lnSpc>
              <a:buNone/>
            </a:pPr>
            <a:r>
              <a:rPr lang="en-US" sz="2550" b="1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3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1066800" y="3143622"/>
            <a:ext cx="7372350" cy="19050"/>
          </a:xfrm>
          <a:prstGeom prst="rect">
            <a:avLst/>
          </a:prstGeom>
          <a:solidFill>
            <a:srgbClr val="EDECEA"/>
          </a:solidFill>
          <a:ln/>
        </p:spPr>
      </p:sp>
      <p:sp>
        <p:nvSpPr>
          <p:cNvPr id="8" name="Text 6"/>
          <p:cNvSpPr/>
          <p:nvPr/>
        </p:nvSpPr>
        <p:spPr>
          <a:xfrm>
            <a:off x="1066800" y="3391272"/>
            <a:ext cx="2297110" cy="3852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154"/>
              </a:lnSpc>
              <a:buNone/>
            </a:pPr>
            <a:r>
              <a:rPr lang="en-US" sz="2025" dirty="0">
                <a:solidFill>
                  <a:srgbClr val="040413">
                    <a:alpha val="55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Входящий поток</a:t>
            </a:r>
            <a:endParaRPr lang="en-US" sz="2025" dirty="0"/>
          </a:p>
        </p:txBody>
      </p:sp>
      <p:sp>
        <p:nvSpPr>
          <p:cNvPr id="9" name="Text 7"/>
          <p:cNvSpPr/>
          <p:nvPr/>
        </p:nvSpPr>
        <p:spPr>
          <a:xfrm>
            <a:off x="5275796" y="3372222"/>
            <a:ext cx="3163354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82927"/>
              </a:lnSpc>
              <a:buNone/>
            </a:pPr>
            <a:r>
              <a:rPr lang="en-US" sz="2550" b="1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до 5 агентов в день на человека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1066800" y="4229472"/>
            <a:ext cx="7372350" cy="19050"/>
          </a:xfrm>
          <a:prstGeom prst="rect">
            <a:avLst/>
          </a:prstGeom>
          <a:solidFill>
            <a:srgbClr val="EDECEA"/>
          </a:solidFill>
          <a:ln/>
        </p:spPr>
      </p:sp>
      <p:sp>
        <p:nvSpPr>
          <p:cNvPr id="11" name="Text 9"/>
          <p:cNvSpPr/>
          <p:nvPr/>
        </p:nvSpPr>
        <p:spPr>
          <a:xfrm>
            <a:off x="1066800" y="4477122"/>
            <a:ext cx="6261862" cy="3852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154"/>
              </a:lnSpc>
              <a:buNone/>
            </a:pPr>
            <a:r>
              <a:rPr lang="en-US" sz="2025" dirty="0">
                <a:solidFill>
                  <a:srgbClr val="040413">
                    <a:alpha val="55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Ручная техническая проверка одного агента</a:t>
            </a:r>
            <a:endParaRPr lang="en-US" sz="2025" dirty="0"/>
          </a:p>
        </p:txBody>
      </p:sp>
      <p:sp>
        <p:nvSpPr>
          <p:cNvPr id="12" name="Text 10"/>
          <p:cNvSpPr/>
          <p:nvPr/>
        </p:nvSpPr>
        <p:spPr>
          <a:xfrm>
            <a:off x="7086079" y="4458072"/>
            <a:ext cx="135307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82927"/>
              </a:lnSpc>
              <a:buNone/>
            </a:pPr>
            <a:r>
              <a:rPr lang="en-US" sz="2550" b="1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2–3 дня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1066800" y="5033814"/>
            <a:ext cx="7372350" cy="19050"/>
          </a:xfrm>
          <a:prstGeom prst="rect">
            <a:avLst/>
          </a:prstGeom>
          <a:solidFill>
            <a:srgbClr val="EDECEA"/>
          </a:solidFill>
          <a:ln/>
        </p:spPr>
      </p:sp>
      <p:sp>
        <p:nvSpPr>
          <p:cNvPr id="14" name="Text 12"/>
          <p:cNvSpPr/>
          <p:nvPr/>
        </p:nvSpPr>
        <p:spPr>
          <a:xfrm>
            <a:off x="1066800" y="5281464"/>
            <a:ext cx="4043988" cy="3852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154"/>
              </a:lnSpc>
              <a:buNone/>
            </a:pPr>
            <a:r>
              <a:rPr lang="en-US" sz="2025" dirty="0">
                <a:solidFill>
                  <a:srgbClr val="040413">
                    <a:alpha val="55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Ёмкость одного специалиста</a:t>
            </a:r>
            <a:endParaRPr lang="en-US" sz="2025" dirty="0"/>
          </a:p>
        </p:txBody>
      </p:sp>
      <p:sp>
        <p:nvSpPr>
          <p:cNvPr id="15" name="Text 13"/>
          <p:cNvSpPr/>
          <p:nvPr/>
        </p:nvSpPr>
        <p:spPr>
          <a:xfrm>
            <a:off x="6188794" y="5262414"/>
            <a:ext cx="2250356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82927"/>
              </a:lnSpc>
              <a:buNone/>
            </a:pPr>
            <a:r>
              <a:rPr lang="en-US" sz="2550" b="1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≈ 0,3–0,5 агента в день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9086850" y="2110680"/>
            <a:ext cx="8591550" cy="5760839"/>
          </a:xfrm>
          <a:prstGeom prst="roundRect">
            <a:avLst>
              <a:gd name="adj" fmla="val 5291"/>
            </a:avLst>
          </a:prstGeom>
          <a:solidFill>
            <a:srgbClr val="121213"/>
          </a:solidFill>
          <a:ln/>
        </p:spPr>
      </p:sp>
      <p:sp>
        <p:nvSpPr>
          <p:cNvPr id="17" name="Text 15"/>
          <p:cNvSpPr/>
          <p:nvPr/>
        </p:nvSpPr>
        <p:spPr>
          <a:xfrm>
            <a:off x="9696450" y="3503786"/>
            <a:ext cx="810958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spc="113" kern="0" dirty="0">
                <a:solidFill>
                  <a:srgbClr val="E9E9FA">
                    <a:alpha val="37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РАЗРЫВ МЕЖДУ СПРОСОМ И ЁМКОСТЬЮ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696450" y="3922886"/>
            <a:ext cx="8109585" cy="165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333"/>
              </a:lnSpc>
              <a:buNone/>
            </a:pPr>
            <a:r>
              <a:rPr lang="en-US" sz="12750" b="1" spc="-300" kern="0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~10–15</a:t>
            </a:r>
            <a:pPr algn="l" indent="0" marL="0">
              <a:lnSpc>
                <a:spcPct val="83333"/>
              </a:lnSpc>
              <a:buNone/>
            </a:pPr>
            <a:r>
              <a:rPr lang="en-US" sz="12750" b="1" spc="-300" kern="0" dirty="0">
                <a:solidFill>
                  <a:srgbClr val="EF3124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×</a:t>
            </a:r>
            <a:endParaRPr lang="en-US" sz="12750" dirty="0"/>
          </a:p>
        </p:txBody>
      </p:sp>
      <p:sp>
        <p:nvSpPr>
          <p:cNvPr id="19" name="Text 17"/>
          <p:cNvSpPr/>
          <p:nvPr/>
        </p:nvSpPr>
        <p:spPr>
          <a:xfrm>
            <a:off x="9696450" y="5732636"/>
            <a:ext cx="7593521" cy="783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462"/>
              </a:lnSpc>
              <a:buNone/>
            </a:pPr>
            <a:r>
              <a:rPr lang="en-US" sz="2025" dirty="0">
                <a:solidFill>
                  <a:srgbClr val="EEEEFB">
                    <a:alpha val="55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Оценка при пиковом потоке 5 агентов в день на человека. Только техническая часть, без согласований.</a:t>
            </a:r>
            <a:endParaRPr lang="en-US" sz="2025" dirty="0"/>
          </a:p>
        </p:txBody>
      </p:sp>
      <p:sp>
        <p:nvSpPr>
          <p:cNvPr id="20" name="Shape 18"/>
          <p:cNvSpPr/>
          <p:nvPr/>
        </p:nvSpPr>
        <p:spPr>
          <a:xfrm>
            <a:off x="609600" y="8138220"/>
            <a:ext cx="17068800" cy="1539180"/>
          </a:xfrm>
          <a:custGeom>
            <a:avLst/>
            <a:gdLst/>
            <a:ahLst/>
            <a:cxnLst/>
            <a:rect l="l" t="t" r="r" b="b"/>
            <a:pathLst>
              <a:path w="17068800" h="1539180">
                <a:moveTo>
                  <a:pt x="0" y="0"/>
                </a:moveTo>
                <a:lnTo>
                  <a:pt x="16840200" y="0"/>
                </a:lnTo>
                <a:arcTo hR="228600" wR="228600" stAng="16200000" swAng="5400000"/>
                <a:lnTo>
                  <a:pt x="17068800" y="1310580"/>
                </a:lnTo>
                <a:arcTo hR="228600" wR="228600" stAng="0" swAng="5400000"/>
                <a:lnTo>
                  <a:pt x="0" y="15391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609600" y="8138220"/>
            <a:ext cx="76200" cy="1539180"/>
          </a:xfrm>
          <a:prstGeom prst="rect">
            <a:avLst/>
          </a:prstGeom>
          <a:solidFill>
            <a:srgbClr val="EF3124"/>
          </a:solidFill>
          <a:ln/>
        </p:spPr>
      </p:sp>
      <p:sp>
        <p:nvSpPr>
          <p:cNvPr id="22" name="Text 20"/>
          <p:cNvSpPr/>
          <p:nvPr/>
        </p:nvSpPr>
        <p:spPr>
          <a:xfrm>
            <a:off x="1143000" y="8481120"/>
            <a:ext cx="16560546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364"/>
              </a:lnSpc>
              <a:buNone/>
            </a:pPr>
            <a:r>
              <a:rPr lang="en-US" sz="2400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Часть изменений уходит в прод без полноценной проверки — не потому, что команда плохая, а потому что арифметика не сходится.</a:t>
            </a:r>
            <a:endParaRPr lang="en-US" sz="2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609600"/>
            <a:ext cx="7171685" cy="65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692"/>
              </a:lnSpc>
              <a:buNone/>
            </a:pPr>
            <a:r>
              <a:rPr lang="en-US" sz="4050" b="1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Конкурентная раскладка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17137335" y="998190"/>
            <a:ext cx="38866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spc="150" kern="0" dirty="0">
                <a:solidFill>
                  <a:srgbClr val="05081D">
                    <a:alpha val="3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66800" y="1455390"/>
            <a:ext cx="48196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spc="113" kern="0" dirty="0">
                <a:solidFill>
                  <a:srgbClr val="05081D">
                    <a:alpha val="3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ПРОТИВ КОГО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638800" y="1455390"/>
            <a:ext cx="54483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spc="113" kern="0" dirty="0">
                <a:solidFill>
                  <a:srgbClr val="05081D">
                    <a:alpha val="3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ИХ СИЛЬНАЯ СТОРОНА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782300" y="1455390"/>
            <a:ext cx="708279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spc="113" kern="0" dirty="0">
                <a:solidFill>
                  <a:srgbClr val="EF31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НАШ АРГУМЕНТ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09600" y="1798290"/>
            <a:ext cx="17068800" cy="1790700"/>
          </a:xfrm>
          <a:prstGeom prst="roundRect">
            <a:avLst>
              <a:gd name="adj" fmla="val 12766"/>
            </a:avLst>
          </a:prstGeom>
          <a:solidFill>
            <a:srgbClr val="121213"/>
          </a:solidFill>
          <a:ln/>
        </p:spPr>
      </p:sp>
      <p:sp>
        <p:nvSpPr>
          <p:cNvPr id="8" name="Text 6"/>
          <p:cNvSpPr/>
          <p:nvPr/>
        </p:nvSpPr>
        <p:spPr>
          <a:xfrm>
            <a:off x="1066800" y="2507903"/>
            <a:ext cx="481965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333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HiveTrace Red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5638800" y="2360265"/>
            <a:ext cx="510159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1875" dirty="0">
                <a:solidFill>
                  <a:srgbClr val="EEEEFB">
                    <a:alpha val="55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Каталог атак, локальные модели, регуляторный маппинг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10782300" y="2026890"/>
            <a:ext cx="6632067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1875" dirty="0">
                <a:solidFill>
                  <a:srgbClr val="FFFFFF">
                    <a:alpha val="94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Публично не подтверждено измерение долговременной памяти как состояния и cross-session эффекта. Наше отличие показываем на состоянии, а не словами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609600" y="3703290"/>
            <a:ext cx="17068800" cy="1457325"/>
          </a:xfrm>
          <a:prstGeom prst="roundRect">
            <a:avLst>
              <a:gd name="adj" fmla="val 15686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1066800" y="4246215"/>
            <a:ext cx="481965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333"/>
              </a:lnSpc>
              <a:buNone/>
            </a:pPr>
            <a:r>
              <a:rPr lang="en-US" sz="2250" b="1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Сервисные аудиты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5638800" y="4098578"/>
            <a:ext cx="510159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1875" dirty="0">
                <a:solidFill>
                  <a:srgbClr val="040413">
                    <a:alpha val="55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Понятный клиенту проект и отчёт, живая экспертиза</a:t>
            </a:r>
            <a:endParaRPr lang="en-US" sz="1875" dirty="0"/>
          </a:p>
        </p:txBody>
      </p:sp>
      <p:sp>
        <p:nvSpPr>
          <p:cNvPr id="14" name="Text 12"/>
          <p:cNvSpPr/>
          <p:nvPr/>
        </p:nvSpPr>
        <p:spPr>
          <a:xfrm>
            <a:off x="10782300" y="3931890"/>
            <a:ext cx="6632067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1875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400–800 тыс. ₽ и 2–6 недель за разовый результат. MOROK превращает повторяемую часть в цикл после каждого релиза</a:t>
            </a:r>
            <a:endParaRPr lang="en-US" sz="1875" dirty="0"/>
          </a:p>
        </p:txBody>
      </p:sp>
      <p:sp>
        <p:nvSpPr>
          <p:cNvPr id="15" name="Shape 13"/>
          <p:cNvSpPr/>
          <p:nvPr/>
        </p:nvSpPr>
        <p:spPr>
          <a:xfrm>
            <a:off x="609600" y="5274915"/>
            <a:ext cx="17068800" cy="1358280"/>
          </a:xfrm>
          <a:prstGeom prst="roundRect">
            <a:avLst>
              <a:gd name="adj" fmla="val 16830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1066800" y="5768280"/>
            <a:ext cx="481965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333"/>
              </a:lnSpc>
              <a:buNone/>
            </a:pPr>
            <a:r>
              <a:rPr lang="en-US" sz="2250" b="1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Крупные offensive-практики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5638800" y="5787330"/>
            <a:ext cx="54483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1875" dirty="0">
                <a:solidFill>
                  <a:srgbClr val="040413">
                    <a:alpha val="55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Сильнейшая экспертиза и репутация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10782300" y="5620643"/>
            <a:ext cx="6632067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1875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Не конкурируем с экспертом: даём ему кампании, evidence и retest. Мы инструмент в его руках</a:t>
            </a:r>
            <a:endParaRPr lang="en-US" sz="1875" dirty="0"/>
          </a:p>
        </p:txBody>
      </p:sp>
      <p:sp>
        <p:nvSpPr>
          <p:cNvPr id="19" name="Shape 17"/>
          <p:cNvSpPr/>
          <p:nvPr/>
        </p:nvSpPr>
        <p:spPr>
          <a:xfrm>
            <a:off x="609600" y="6747495"/>
            <a:ext cx="17068800" cy="1358280"/>
          </a:xfrm>
          <a:prstGeom prst="roundRect">
            <a:avLst>
              <a:gd name="adj" fmla="val 16830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1066800" y="7240860"/>
            <a:ext cx="481965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333"/>
              </a:lnSpc>
              <a:buNone/>
            </a:pPr>
            <a:r>
              <a:rPr lang="en-US" sz="2250" b="1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Сильный внешний агент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5638800" y="7259910"/>
            <a:ext cx="54483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1875" dirty="0">
                <a:solidFill>
                  <a:srgbClr val="040413">
                    <a:alpha val="55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Скорость исследования, гибкость</a:t>
            </a:r>
            <a:endParaRPr lang="en-US" sz="1875" dirty="0"/>
          </a:p>
        </p:txBody>
      </p:sp>
      <p:sp>
        <p:nvSpPr>
          <p:cNvPr id="22" name="Text 20"/>
          <p:cNvSpPr/>
          <p:nvPr/>
        </p:nvSpPr>
        <p:spPr>
          <a:xfrm>
            <a:off x="10782300" y="7093223"/>
            <a:ext cx="6632067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1875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Недоступен для контура. Нет state oracle, воспроизводимости и артефакта для риск-комитета</a:t>
            </a:r>
            <a:endParaRPr lang="en-US" sz="1875" dirty="0"/>
          </a:p>
        </p:txBody>
      </p:sp>
      <p:sp>
        <p:nvSpPr>
          <p:cNvPr id="23" name="Shape 21"/>
          <p:cNvSpPr/>
          <p:nvPr/>
        </p:nvSpPr>
        <p:spPr>
          <a:xfrm>
            <a:off x="609600" y="8220075"/>
            <a:ext cx="17068800" cy="1457325"/>
          </a:xfrm>
          <a:prstGeom prst="roundRect">
            <a:avLst>
              <a:gd name="adj" fmla="val 15686"/>
            </a:avLst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1066800" y="8577263"/>
            <a:ext cx="4512945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333"/>
              </a:lnSpc>
              <a:buNone/>
            </a:pPr>
            <a:r>
              <a:rPr lang="en-US" sz="2250" b="1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OSS: Promptfoo, PyRIT, Giskard, Garak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5638800" y="8782050"/>
            <a:ext cx="54483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1875" dirty="0">
                <a:solidFill>
                  <a:srgbClr val="040413">
                    <a:alpha val="55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Бесплатны, зрелые компоненты</a:t>
            </a:r>
            <a:endParaRPr lang="en-US" sz="1875" dirty="0"/>
          </a:p>
        </p:txBody>
      </p:sp>
      <p:sp>
        <p:nvSpPr>
          <p:cNvPr id="26" name="Text 24"/>
          <p:cNvSpPr/>
          <p:nvPr/>
        </p:nvSpPr>
        <p:spPr>
          <a:xfrm>
            <a:off x="10782300" y="8448675"/>
            <a:ext cx="6632067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1875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Compose, not replace: берём их модули, своими остаются адаптеры цели, state oracle, memory lifecycle и evidence-отчёт</a:t>
            </a:r>
            <a:endParaRPr lang="en-US" sz="187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609600"/>
            <a:ext cx="13194037" cy="65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692"/>
              </a:lnSpc>
              <a:buNone/>
            </a:pPr>
            <a:r>
              <a:rPr lang="en-US" sz="4050" b="1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Себестоимость одной ручной проверки агента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17137335" y="998190"/>
            <a:ext cx="38866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spc="150" kern="0" dirty="0">
                <a:solidFill>
                  <a:srgbClr val="05081D">
                    <a:alpha val="3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B3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09600" y="1493490"/>
            <a:ext cx="8439150" cy="6513314"/>
          </a:xfrm>
          <a:prstGeom prst="roundRect">
            <a:avLst>
              <a:gd name="adj" fmla="val 4680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3827636"/>
            <a:ext cx="810958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spc="113" kern="0" dirty="0">
                <a:solidFill>
                  <a:srgbClr val="05081D">
                    <a:alpha val="3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ПОДРЯДЧИК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4246736"/>
            <a:ext cx="8109585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636"/>
              </a:lnSpc>
              <a:buNone/>
            </a:pPr>
            <a:r>
              <a:rPr lang="en-US" sz="6900" b="1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80–360</a:t>
            </a:r>
            <a:pPr algn="l" indent="0" marL="0">
              <a:lnSpc>
                <a:spcPct val="83636"/>
              </a:lnSpc>
              <a:buNone/>
            </a:pPr>
            <a:r>
              <a:rPr lang="en-US" sz="3300" b="1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тыс. ₽</a:t>
            </a:r>
            <a:endParaRPr lang="en-US" sz="6900" dirty="0"/>
          </a:p>
        </p:txBody>
      </p:sp>
      <p:sp>
        <p:nvSpPr>
          <p:cNvPr id="7" name="Text 5"/>
          <p:cNvSpPr/>
          <p:nvPr/>
        </p:nvSpPr>
        <p:spPr>
          <a:xfrm>
            <a:off x="1143000" y="5313536"/>
            <a:ext cx="8109585" cy="397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275"/>
              </a:lnSpc>
              <a:buNone/>
            </a:pPr>
            <a:r>
              <a:rPr lang="en-US" sz="1950" dirty="0">
                <a:solidFill>
                  <a:srgbClr val="040413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2–3 дня × 40–120 тыс. ₽ за специалисто-день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9239250" y="1493490"/>
            <a:ext cx="8439150" cy="6513314"/>
          </a:xfrm>
          <a:prstGeom prst="roundRect">
            <a:avLst>
              <a:gd name="adj" fmla="val 4680"/>
            </a:avLst>
          </a:prstGeom>
          <a:solidFill>
            <a:srgbClr val="121213"/>
          </a:solidFill>
          <a:ln/>
        </p:spPr>
      </p:sp>
      <p:sp>
        <p:nvSpPr>
          <p:cNvPr id="9" name="Text 7"/>
          <p:cNvSpPr/>
          <p:nvPr/>
        </p:nvSpPr>
        <p:spPr>
          <a:xfrm>
            <a:off x="9772650" y="3648149"/>
            <a:ext cx="810958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spc="113" kern="0" dirty="0">
                <a:solidFill>
                  <a:srgbClr val="E9E9FA">
                    <a:alpha val="37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ШТАТНАЯ КОМАНДА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772650" y="4067249"/>
            <a:ext cx="8109585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636"/>
              </a:lnSpc>
              <a:buNone/>
            </a:pPr>
            <a:r>
              <a:rPr lang="en-US" sz="6900" b="1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36–66</a:t>
            </a:r>
            <a:pPr algn="l" indent="0" marL="0">
              <a:lnSpc>
                <a:spcPct val="83636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тыс. ₽</a:t>
            </a:r>
            <a:endParaRPr lang="en-US" sz="6900" dirty="0"/>
          </a:p>
        </p:txBody>
      </p:sp>
      <p:sp>
        <p:nvSpPr>
          <p:cNvPr id="11" name="Text 9"/>
          <p:cNvSpPr/>
          <p:nvPr/>
        </p:nvSpPr>
        <p:spPr>
          <a:xfrm>
            <a:off x="9772650" y="5134049"/>
            <a:ext cx="7593521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275"/>
              </a:lnSpc>
              <a:buNone/>
            </a:pPr>
            <a:r>
              <a:rPr lang="en-US" sz="1950" dirty="0">
                <a:solidFill>
                  <a:srgbClr val="EEEEFB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2–3 дня × 18–22 тыс. ₽/день полной стоимости специалиста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609600" y="8273504"/>
            <a:ext cx="8401050" cy="1403896"/>
          </a:xfrm>
          <a:prstGeom prst="roundRect">
            <a:avLst>
              <a:gd name="adj" fmla="val 16283"/>
            </a:avLst>
          </a:prstGeom>
          <a:solidFill>
            <a:srgbClr val="EDECEA"/>
          </a:solidFill>
          <a:ln/>
        </p:spPr>
      </p:sp>
      <p:sp>
        <p:nvSpPr>
          <p:cNvPr id="13" name="Text 11"/>
          <p:cNvSpPr/>
          <p:nvPr/>
        </p:nvSpPr>
        <p:spPr>
          <a:xfrm>
            <a:off x="1066800" y="8616404"/>
            <a:ext cx="7711250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613"/>
              </a:lnSpc>
              <a:buNone/>
            </a:pPr>
            <a:r>
              <a:rPr lang="en-US" sz="1950" dirty="0">
                <a:solidFill>
                  <a:srgbClr val="040413">
                    <a:alpha val="55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Штатный senior — 4,5–5,5 млн ₽/год полной стоимости. Оценка, не оферта.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9201150" y="8273504"/>
            <a:ext cx="8477250" cy="1403896"/>
          </a:xfrm>
          <a:custGeom>
            <a:avLst/>
            <a:gdLst/>
            <a:ahLst/>
            <a:cxnLst/>
            <a:rect l="l" t="t" r="r" b="b"/>
            <a:pathLst>
              <a:path w="8477250" h="1403896">
                <a:moveTo>
                  <a:pt x="0" y="0"/>
                </a:moveTo>
                <a:lnTo>
                  <a:pt x="8248650" y="0"/>
                </a:lnTo>
                <a:arcTo hR="228600" wR="228600" stAng="16200000" swAng="5400000"/>
                <a:lnTo>
                  <a:pt x="8477250" y="1175296"/>
                </a:lnTo>
                <a:arcTo hR="228600" wR="228600" stAng="0" swAng="5400000"/>
                <a:lnTo>
                  <a:pt x="0" y="140389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9201150" y="8273504"/>
            <a:ext cx="76200" cy="1403896"/>
          </a:xfrm>
          <a:prstGeom prst="rect">
            <a:avLst/>
          </a:prstGeom>
          <a:solidFill>
            <a:srgbClr val="EF3124"/>
          </a:solidFill>
          <a:ln/>
        </p:spPr>
      </p:sp>
      <p:sp>
        <p:nvSpPr>
          <p:cNvPr id="16" name="Text 14"/>
          <p:cNvSpPr/>
          <p:nvPr/>
        </p:nvSpPr>
        <p:spPr>
          <a:xfrm>
            <a:off x="9734550" y="8616404"/>
            <a:ext cx="7711250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613"/>
              </a:lnSpc>
              <a:buNone/>
            </a:pPr>
            <a:r>
              <a:rPr lang="en-US" sz="1950" dirty="0">
                <a:solidFill>
                  <a:srgbClr val="040413">
                    <a:alpha val="55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Это база для расчёта экономии на потоке, а не цена MOROK. Свою себестоимость меряем после пилота.</a:t>
            </a:r>
            <a:endParaRPr lang="en-US" sz="1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609600"/>
            <a:ext cx="7256815" cy="65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692"/>
              </a:lnSpc>
              <a:buNone/>
            </a:pPr>
            <a:r>
              <a:rPr lang="en-US" sz="4050" b="1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Линейка модулей MOROK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17137335" y="998190"/>
            <a:ext cx="38866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90"/>
              </a:lnSpc>
              <a:buNone/>
            </a:pPr>
            <a:r>
              <a:rPr lang="en-US" sz="1800" spc="150" kern="0" dirty="0">
                <a:solidFill>
                  <a:srgbClr val="05081D">
                    <a:alpha val="3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09600" y="1493490"/>
            <a:ext cx="3688110" cy="6760890"/>
          </a:xfrm>
          <a:prstGeom prst="roundRect">
            <a:avLst>
              <a:gd name="adj" fmla="val 8264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028700" y="1912590"/>
            <a:ext cx="313490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927"/>
              </a:lnSpc>
              <a:buNone/>
            </a:pPr>
            <a:r>
              <a:rPr lang="en-US" sz="2550" b="1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Core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028700" y="2407890"/>
            <a:ext cx="2935407" cy="1424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419"/>
              </a:lnSpc>
              <a:buNone/>
            </a:pPr>
            <a:r>
              <a:rPr lang="en-US" sz="1950" dirty="0">
                <a:solidFill>
                  <a:srgbClr val="040413">
                    <a:alpha val="55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Движок и CLI: конфигурация цели, preflight, запуск кампании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1028700" y="6532438"/>
            <a:ext cx="2849910" cy="1302841"/>
          </a:xfrm>
          <a:prstGeom prst="roundRect">
            <a:avLst>
              <a:gd name="adj" fmla="val 10235"/>
            </a:avLst>
          </a:prstGeom>
          <a:solidFill>
            <a:srgbClr val="EDECEA"/>
          </a:solidFill>
          <a:ln/>
        </p:spPr>
      </p:sp>
      <p:sp>
        <p:nvSpPr>
          <p:cNvPr id="8" name="Text 6"/>
          <p:cNvSpPr/>
          <p:nvPr/>
        </p:nvSpPr>
        <p:spPr>
          <a:xfrm>
            <a:off x="1219200" y="6703888"/>
            <a:ext cx="2554407" cy="998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1800" dirty="0">
                <a:solidFill>
                  <a:srgbClr val="12121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agentic_redteam · config/target.yaml · doctor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488210" y="1493490"/>
            <a:ext cx="3154635" cy="6760890"/>
          </a:xfrm>
          <a:prstGeom prst="roundRect">
            <a:avLst>
              <a:gd name="adj" fmla="val 9662"/>
            </a:avLst>
          </a:prstGeom>
          <a:solidFill>
            <a:srgbClr val="121213"/>
          </a:solidFill>
          <a:ln/>
        </p:spPr>
      </p:sp>
      <p:sp>
        <p:nvSpPr>
          <p:cNvPr id="10" name="Text 8"/>
          <p:cNvSpPr/>
          <p:nvPr/>
        </p:nvSpPr>
        <p:spPr>
          <a:xfrm>
            <a:off x="4907310" y="1912590"/>
            <a:ext cx="254807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927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Forge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4907310" y="2407890"/>
            <a:ext cx="2392635" cy="10781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419"/>
              </a:lnSpc>
              <a:buNone/>
            </a:pPr>
            <a:r>
              <a:rPr lang="en-US" sz="1950" dirty="0">
                <a:solidFill>
                  <a:srgbClr val="EEEEFB">
                    <a:alpha val="55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Генерация и адаптация сценариев атак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4907310" y="6532438"/>
            <a:ext cx="2316435" cy="1302841"/>
          </a:xfrm>
          <a:prstGeom prst="roundRect">
            <a:avLst>
              <a:gd name="adj" fmla="val 10235"/>
            </a:avLst>
          </a:prstGeom>
          <a:solidFill>
            <a:srgbClr val="D6D6E5">
              <a:alpha val="7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097810" y="6703888"/>
            <a:ext cx="2011635" cy="998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1800" dirty="0">
                <a:solidFill>
                  <a:srgbClr val="FFFFFF">
                    <a:alpha val="94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Scenario layer · adaptive BAC generator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833345" y="1493490"/>
            <a:ext cx="3154710" cy="6760890"/>
          </a:xfrm>
          <a:prstGeom prst="roundRect">
            <a:avLst>
              <a:gd name="adj" fmla="val 9662"/>
            </a:avLst>
          </a:prstGeom>
          <a:solidFill>
            <a:srgbClr val="121213"/>
          </a:solidFill>
          <a:ln/>
        </p:spPr>
      </p:sp>
      <p:sp>
        <p:nvSpPr>
          <p:cNvPr id="15" name="Text 13"/>
          <p:cNvSpPr/>
          <p:nvPr/>
        </p:nvSpPr>
        <p:spPr>
          <a:xfrm>
            <a:off x="8252445" y="1912590"/>
            <a:ext cx="254816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927"/>
              </a:lnSpc>
              <a:buNone/>
            </a:pPr>
            <a:r>
              <a:rPr lang="en-US" sz="2550" b="1" dirty="0">
                <a:solidFill>
                  <a:srgbClr val="EF3124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Proof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8252445" y="2407890"/>
            <a:ext cx="2392710" cy="1424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419"/>
              </a:lnSpc>
              <a:buNone/>
            </a:pPr>
            <a:r>
              <a:rPr lang="en-US" sz="1950" dirty="0">
                <a:solidFill>
                  <a:srgbClr val="EEEEFB">
                    <a:alpha val="55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State oracle: снимки памяти, журнал tool calls, assertions, ASR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8252445" y="6532438"/>
            <a:ext cx="2316510" cy="1302841"/>
          </a:xfrm>
          <a:prstGeom prst="roundRect">
            <a:avLst>
              <a:gd name="adj" fmla="val 10235"/>
            </a:avLst>
          </a:prstGeom>
          <a:solidFill>
            <a:srgbClr val="D6D6E5">
              <a:alpha val="7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8442945" y="6703888"/>
            <a:ext cx="2011710" cy="998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1800" dirty="0">
                <a:solidFill>
                  <a:srgbClr val="FFFFFF">
                    <a:alpha val="94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State Tracer · Deterministic Scorer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1178555" y="1493490"/>
            <a:ext cx="3154635" cy="6760890"/>
          </a:xfrm>
          <a:prstGeom prst="roundRect">
            <a:avLst>
              <a:gd name="adj" fmla="val 9662"/>
            </a:avLst>
          </a:prstGeom>
          <a:solidFill>
            <a:srgbClr val="121213"/>
          </a:solidFill>
          <a:ln/>
        </p:spPr>
      </p:sp>
      <p:sp>
        <p:nvSpPr>
          <p:cNvPr id="20" name="Text 18"/>
          <p:cNvSpPr/>
          <p:nvPr/>
        </p:nvSpPr>
        <p:spPr>
          <a:xfrm>
            <a:off x="11597655" y="1912590"/>
            <a:ext cx="254807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927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Loop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11597655" y="2407890"/>
            <a:ext cx="2392635" cy="1424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419"/>
              </a:lnSpc>
              <a:buNone/>
            </a:pPr>
            <a:r>
              <a:rPr lang="en-US" sz="1950" dirty="0">
                <a:solidFill>
                  <a:srgbClr val="EEEEFB">
                    <a:alpha val="55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Регрессия: находка → сценарий → повторный прогон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11597655" y="6532438"/>
            <a:ext cx="2316435" cy="1302841"/>
          </a:xfrm>
          <a:prstGeom prst="roundRect">
            <a:avLst>
              <a:gd name="adj" fmla="val 10235"/>
            </a:avLst>
          </a:prstGeom>
          <a:solidFill>
            <a:srgbClr val="D6D6E5">
              <a:alpha val="7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1788155" y="6703888"/>
            <a:ext cx="2011635" cy="998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1800" dirty="0">
                <a:solidFill>
                  <a:srgbClr val="FFFFFF">
                    <a:alpha val="94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YAML-сценарии · run-id · артефакты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4523690" y="1493490"/>
            <a:ext cx="3154710" cy="6760890"/>
          </a:xfrm>
          <a:prstGeom prst="roundRect">
            <a:avLst>
              <a:gd name="adj" fmla="val 9662"/>
            </a:avLst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14942790" y="1912590"/>
            <a:ext cx="254816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927"/>
              </a:lnSpc>
              <a:buNone/>
            </a:pPr>
            <a:r>
              <a:rPr lang="en-US" sz="2550" b="1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Range</a:t>
            </a:r>
            <a:endParaRPr lang="en-US" sz="2550" dirty="0"/>
          </a:p>
        </p:txBody>
      </p:sp>
      <p:sp>
        <p:nvSpPr>
          <p:cNvPr id="26" name="Text 24"/>
          <p:cNvSpPr/>
          <p:nvPr/>
        </p:nvSpPr>
        <p:spPr>
          <a:xfrm>
            <a:off x="14942790" y="2407890"/>
            <a:ext cx="2392710" cy="17715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419"/>
              </a:lnSpc>
              <a:buNone/>
            </a:pPr>
            <a:r>
              <a:rPr lang="en-US" sz="1950" dirty="0">
                <a:solidFill>
                  <a:srgbClr val="040413">
                    <a:alpha val="55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Учебный намеренно уязвимый полигон для демо и обучения</a:t>
            </a:r>
            <a:endParaRPr lang="en-US" sz="1950" dirty="0"/>
          </a:p>
        </p:txBody>
      </p:sp>
      <p:sp>
        <p:nvSpPr>
          <p:cNvPr id="27" name="Shape 25"/>
          <p:cNvSpPr/>
          <p:nvPr/>
        </p:nvSpPr>
        <p:spPr>
          <a:xfrm>
            <a:off x="14942790" y="7172399"/>
            <a:ext cx="2316510" cy="662880"/>
          </a:xfrm>
          <a:prstGeom prst="roundRect">
            <a:avLst>
              <a:gd name="adj" fmla="val 20117"/>
            </a:avLst>
          </a:prstGeom>
          <a:solidFill>
            <a:srgbClr val="EDECEA"/>
          </a:solidFill>
          <a:ln/>
        </p:spPr>
      </p:sp>
      <p:sp>
        <p:nvSpPr>
          <p:cNvPr id="28" name="Text 26"/>
          <p:cNvSpPr/>
          <p:nvPr/>
        </p:nvSpPr>
        <p:spPr>
          <a:xfrm>
            <a:off x="15133290" y="7343849"/>
            <a:ext cx="201171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1800" dirty="0">
                <a:solidFill>
                  <a:srgbClr val="12121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stand/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609600" y="8521080"/>
            <a:ext cx="17068800" cy="1156320"/>
          </a:xfrm>
          <a:prstGeom prst="roundRect">
            <a:avLst>
              <a:gd name="adj" fmla="val 19770"/>
            </a:avLst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1066800" y="8863980"/>
            <a:ext cx="17769840" cy="50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571"/>
              </a:lnSpc>
              <a:buNone/>
            </a:pPr>
            <a:r>
              <a:rPr lang="en-US" sz="2850" b="1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Forge атакует. </a:t>
            </a:r>
            <a:pPr algn="l" indent="0" marL="0">
              <a:lnSpc>
                <a:spcPct val="108571"/>
              </a:lnSpc>
              <a:buNone/>
            </a:pPr>
            <a:r>
              <a:rPr lang="en-US" sz="2850" b="1" dirty="0">
                <a:solidFill>
                  <a:srgbClr val="EF3124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Proof доказывает. </a:t>
            </a:r>
            <a:pPr algn="l" indent="0" marL="0">
              <a:lnSpc>
                <a:spcPct val="108571"/>
              </a:lnSpc>
              <a:buNone/>
            </a:pPr>
            <a:r>
              <a:rPr lang="en-US" sz="2850" b="1" dirty="0">
                <a:solidFill>
                  <a:srgbClr val="1212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Loop не даёт забыть.</a:t>
            </a:r>
            <a:endParaRPr lang="en-US" sz="2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2026-09-05T09:52:20Z</dcterms:created>
  <dcterms:modified xsi:type="dcterms:W3CDTF">2026-09-05T09:52:20Z</dcterms:modified>
</cp:coreProperties>
</file>